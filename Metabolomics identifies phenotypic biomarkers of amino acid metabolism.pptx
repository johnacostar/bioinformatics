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Lst>
  <p:notesMasterIdLst>
    <p:notesMasterId r:id="rId19"/>
  </p:notesMasterIdLst>
  <p:sldIdLst>
    <p:sldId id="361" r:id="rId5"/>
    <p:sldId id="400" r:id="rId6"/>
    <p:sldId id="455" r:id="rId7"/>
    <p:sldId id="454" r:id="rId8"/>
    <p:sldId id="395" r:id="rId9"/>
    <p:sldId id="469" r:id="rId10"/>
    <p:sldId id="470" r:id="rId11"/>
    <p:sldId id="477" r:id="rId12"/>
    <p:sldId id="476" r:id="rId13"/>
    <p:sldId id="478" r:id="rId14"/>
    <p:sldId id="479" r:id="rId15"/>
    <p:sldId id="481" r:id="rId16"/>
    <p:sldId id="480" r:id="rId17"/>
    <p:sldId id="458" r:id="rId18"/>
  </p:sldIdLst>
  <p:sldSz cx="12192000" cy="6858000"/>
  <p:notesSz cx="6858000" cy="9144000"/>
  <p:embeddedFontLst>
    <p:embeddedFont>
      <p:font typeface="Lora" pitchFamily="2" charset="0"/>
      <p:regular r:id="rId20"/>
      <p:bold r:id="rId21"/>
      <p:italic r:id="rId22"/>
      <p:boldItalic r:id="rId23"/>
    </p:embeddedFont>
    <p:embeddedFont>
      <p:font typeface="Quattrocento Sans" panose="020B0502050000020003" pitchFamily="34" charset="0"/>
      <p:regular r:id="rId24"/>
      <p:bold r:id="rId25"/>
      <p:italic r:id="rId26"/>
      <p:boldItalic r:id="rId27"/>
    </p:embeddedFont>
    <p:embeddedFont>
      <p:font typeface="Source Sans Pro" panose="020B050303040302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73" roundtripDataSignature="AMtx7miu+pFutWhdY/M9d8YFrpFUikToP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an Carlos Cruz Jimenez" initials="JJ" lastIdx="2" clrIdx="0">
    <p:extLst>
      <p:ext uri="{19B8F6BF-5375-455C-9EA6-DF929625EA0E}">
        <p15:presenceInfo xmlns:p15="http://schemas.microsoft.com/office/powerpoint/2012/main" userId="S::jc.cruz@uniandes.edu.co::7891530a-c036-40e0-b60f-d2255fa11090" providerId="AD"/>
      </p:ext>
    </p:extLst>
  </p:cmAuthor>
  <p:cmAuthor id="2" name="Carolina Muñoz Camargo" initials="CC" lastIdx="2" clrIdx="1">
    <p:extLst>
      <p:ext uri="{19B8F6BF-5375-455C-9EA6-DF929625EA0E}">
        <p15:presenceInfo xmlns:p15="http://schemas.microsoft.com/office/powerpoint/2012/main" userId="S::c.munoz2016@uniandes.edu.co::469db27a-e4e8-4983-9ec1-536a863a88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FF"/>
    <a:srgbClr val="FFD757"/>
    <a:srgbClr val="FFCD00"/>
    <a:srgbClr val="00AFDC"/>
    <a:srgbClr val="68937C"/>
    <a:srgbClr val="B151BA"/>
    <a:srgbClr val="BA6AC2"/>
    <a:srgbClr val="5B8FAD"/>
    <a:srgbClr val="9307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A77F1A-B9A0-87D2-F587-ADFDBCD594E6}" v="6" dt="2025-04-14T04:08:02.197"/>
  </p1510:revLst>
</p1510:revInfo>
</file>

<file path=ppt/tableStyles.xml><?xml version="1.0" encoding="utf-8"?>
<a:tblStyleLst xmlns:a="http://schemas.openxmlformats.org/drawingml/2006/main" def="{37443072-4BC0-44C8-A67B-BC5E6C43336A}">
  <a:tblStyle styleId="{37443072-4BC0-44C8-A67B-BC5E6C43336A}" styleName="Table_0">
    <a:wholeTbl>
      <a:tcTxStyle b="off" i="off">
        <a:font>
          <a:latin typeface="Sitka Banner"/>
          <a:ea typeface="Sitka Banner"/>
          <a:cs typeface="Sitka Banner"/>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8EFE7"/>
          </a:solidFill>
        </a:fill>
      </a:tcStyle>
    </a:wholeTbl>
    <a:band1H>
      <a:tcTxStyle/>
      <a:tcStyle>
        <a:tcBdr/>
        <a:fill>
          <a:solidFill>
            <a:srgbClr val="F0DFCC"/>
          </a:solidFill>
        </a:fill>
      </a:tcStyle>
    </a:band1H>
    <a:band2H>
      <a:tcTxStyle/>
      <a:tcStyle>
        <a:tcBdr/>
      </a:tcStyle>
    </a:band2H>
    <a:band1V>
      <a:tcTxStyle/>
      <a:tcStyle>
        <a:tcBdr/>
        <a:fill>
          <a:solidFill>
            <a:srgbClr val="F0DFCC"/>
          </a:solidFill>
        </a:fill>
      </a:tcStyle>
    </a:band1V>
    <a:band2V>
      <a:tcTxStyle/>
      <a:tcStyle>
        <a:tcBdr/>
      </a:tcStyle>
    </a:band2V>
    <a:lastCol>
      <a:tcTxStyle b="on" i="off">
        <a:font>
          <a:latin typeface="Sitka Banner"/>
          <a:ea typeface="Sitka Banner"/>
          <a:cs typeface="Sitka Banner"/>
        </a:font>
        <a:schemeClr val="lt1"/>
      </a:tcTxStyle>
      <a:tcStyle>
        <a:tcBdr/>
        <a:fill>
          <a:solidFill>
            <a:schemeClr val="accent2"/>
          </a:solidFill>
        </a:fill>
      </a:tcStyle>
    </a:lastCol>
    <a:firstCol>
      <a:tcTxStyle b="on" i="off">
        <a:font>
          <a:latin typeface="Sitka Banner"/>
          <a:ea typeface="Sitka Banner"/>
          <a:cs typeface="Sitka Banner"/>
        </a:font>
        <a:schemeClr val="lt1"/>
      </a:tcTxStyle>
      <a:tcStyle>
        <a:tcBdr/>
        <a:fill>
          <a:solidFill>
            <a:schemeClr val="accent2"/>
          </a:solidFill>
        </a:fill>
      </a:tcStyle>
    </a:firstCol>
    <a:lastRow>
      <a:tcTxStyle b="on" i="off">
        <a:font>
          <a:latin typeface="Sitka Banner"/>
          <a:ea typeface="Sitka Banner"/>
          <a:cs typeface="Sitka Banner"/>
        </a:font>
        <a:schemeClr val="lt1"/>
      </a:tcTxStyle>
      <a:tcStyle>
        <a:tcBdr>
          <a:top>
            <a:ln w="38100" cap="flat" cmpd="sng">
              <a:solidFill>
                <a:schemeClr val="lt1"/>
              </a:solidFill>
              <a:prstDash val="solid"/>
              <a:round/>
              <a:headEnd type="none" w="sm" len="sm"/>
              <a:tailEnd type="none" w="sm" len="sm"/>
            </a:ln>
          </a:top>
        </a:tcBdr>
        <a:fill>
          <a:solidFill>
            <a:schemeClr val="accent2"/>
          </a:solidFill>
        </a:fill>
      </a:tcStyle>
    </a:lastRow>
    <a:seCell>
      <a:tcTxStyle/>
      <a:tcStyle>
        <a:tcBdr/>
      </a:tcStyle>
    </a:seCell>
    <a:swCell>
      <a:tcTxStyle/>
      <a:tcStyle>
        <a:tcBdr/>
      </a:tcStyle>
    </a:swCell>
    <a:firstRow>
      <a:tcTxStyle b="on" i="off">
        <a:font>
          <a:latin typeface="Sitka Banner"/>
          <a:ea typeface="Sitka Banner"/>
          <a:cs typeface="Sitka Banner"/>
        </a:font>
        <a:schemeClr val="lt1"/>
      </a:tcTxStyle>
      <a:tcStyle>
        <a:tcBdr>
          <a:bottom>
            <a:ln w="38100" cap="flat" cmpd="sng">
              <a:solidFill>
                <a:schemeClr val="lt1"/>
              </a:solidFill>
              <a:prstDash val="solid"/>
              <a:round/>
              <a:headEnd type="none" w="sm" len="sm"/>
              <a:tailEnd type="none" w="sm" len="sm"/>
            </a:ln>
          </a:bottom>
        </a:tcBdr>
        <a:fill>
          <a:solidFill>
            <a:schemeClr val="accent2"/>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183" autoAdjust="0"/>
  </p:normalViewPr>
  <p:slideViewPr>
    <p:cSldViewPr snapToGrid="0">
      <p:cViewPr varScale="1">
        <p:scale>
          <a:sx n="69" d="100"/>
          <a:sy n="69" d="100"/>
        </p:scale>
        <p:origin x="138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21" Type="http://schemas.openxmlformats.org/officeDocument/2006/relationships/font" Target="fonts/font2.fntdata"/><Relationship Id="rId76"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font" Target="fonts/font10.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font" Target="fonts/font12.fntdata"/><Relationship Id="rId73" Type="http://customschemas.google.com/relationships/presentationmetadata" Target="metadata"/><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77"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000000"/>
                </a:solidFill>
                <a:latin typeface="Arial"/>
                <a:ea typeface="Arial"/>
                <a:cs typeface="Arial"/>
                <a:sym typeface="Arial"/>
              </a:rPr>
              <a:t>‹Nº›</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1477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7977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7657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idx="12"/>
          </p:nvPr>
        </p:nvSpPr>
        <p:spPr/>
        <p:txBody>
          <a:bodyPr/>
          <a:lstStyle/>
          <a:p>
            <a:pPr marL="0" marR="0" lvl="0" indent="0" algn="r" rtl="0">
              <a:lnSpc>
                <a:spcPct val="100000"/>
              </a:lnSpc>
              <a:spcBef>
                <a:spcPts val="0"/>
              </a:spcBef>
              <a:spcAft>
                <a:spcPts val="0"/>
              </a:spcAft>
              <a:buNone/>
            </a:pPr>
            <a:fld id="{00000000-1234-1234-1234-123412341234}" type="slidenum">
              <a:rPr lang="en-US" sz="1200" b="0" i="0" u="none" strike="noStrike" cap="none" smtClean="0">
                <a:solidFill>
                  <a:srgbClr val="000000"/>
                </a:solidFill>
                <a:latin typeface="Arial"/>
                <a:ea typeface="Arial"/>
                <a:cs typeface="Arial"/>
                <a:sym typeface="Arial"/>
              </a:rPr>
              <a:t>14</a:t>
            </a:fld>
            <a:endParaRPr lang="en-US"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49241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3"/>
        <p:cNvGrpSpPr/>
        <p:nvPr/>
      </p:nvGrpSpPr>
      <p:grpSpPr>
        <a:xfrm>
          <a:off x="0" y="0"/>
          <a:ext cx="0" cy="0"/>
          <a:chOff x="0" y="0"/>
          <a:chExt cx="0" cy="0"/>
        </a:xfrm>
      </p:grpSpPr>
      <p:sp>
        <p:nvSpPr>
          <p:cNvPr id="14" name="Google Shape;14;p47"/>
          <p:cNvSpPr txBox="1">
            <a:spLocks noGrp="1"/>
          </p:cNvSpPr>
          <p:nvPr>
            <p:ph type="ctrTitle"/>
          </p:nvPr>
        </p:nvSpPr>
        <p:spPr>
          <a:xfrm>
            <a:off x="1328840" y="2671851"/>
            <a:ext cx="6031600" cy="1546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4800">
                <a:latin typeface="Arial"/>
                <a:ea typeface="Arial"/>
                <a:cs typeface="Arial"/>
                <a:sym typeface="Arial"/>
              </a:defRPr>
            </a:lvl1pPr>
            <a:lvl2pPr lvl="1" algn="l">
              <a:lnSpc>
                <a:spcPct val="100000"/>
              </a:lnSpc>
              <a:spcBef>
                <a:spcPts val="0"/>
              </a:spcBef>
              <a:spcAft>
                <a:spcPts val="0"/>
              </a:spcAft>
              <a:buSzPts val="3600"/>
              <a:buNone/>
              <a:defRPr sz="4800"/>
            </a:lvl2pPr>
            <a:lvl3pPr lvl="2" algn="l">
              <a:lnSpc>
                <a:spcPct val="100000"/>
              </a:lnSpc>
              <a:spcBef>
                <a:spcPts val="0"/>
              </a:spcBef>
              <a:spcAft>
                <a:spcPts val="0"/>
              </a:spcAft>
              <a:buSzPts val="3600"/>
              <a:buNone/>
              <a:defRPr sz="4800"/>
            </a:lvl3pPr>
            <a:lvl4pPr lvl="3" algn="l">
              <a:lnSpc>
                <a:spcPct val="100000"/>
              </a:lnSpc>
              <a:spcBef>
                <a:spcPts val="0"/>
              </a:spcBef>
              <a:spcAft>
                <a:spcPts val="0"/>
              </a:spcAft>
              <a:buSzPts val="3600"/>
              <a:buNone/>
              <a:defRPr sz="4800"/>
            </a:lvl4pPr>
            <a:lvl5pPr lvl="4" algn="l">
              <a:lnSpc>
                <a:spcPct val="100000"/>
              </a:lnSpc>
              <a:spcBef>
                <a:spcPts val="0"/>
              </a:spcBef>
              <a:spcAft>
                <a:spcPts val="0"/>
              </a:spcAft>
              <a:buSzPts val="3600"/>
              <a:buNone/>
              <a:defRPr sz="4800"/>
            </a:lvl5pPr>
            <a:lvl6pPr lvl="5" algn="l">
              <a:lnSpc>
                <a:spcPct val="100000"/>
              </a:lnSpc>
              <a:spcBef>
                <a:spcPts val="0"/>
              </a:spcBef>
              <a:spcAft>
                <a:spcPts val="0"/>
              </a:spcAft>
              <a:buSzPts val="3600"/>
              <a:buNone/>
              <a:defRPr sz="4800"/>
            </a:lvl6pPr>
            <a:lvl7pPr lvl="6" algn="l">
              <a:lnSpc>
                <a:spcPct val="100000"/>
              </a:lnSpc>
              <a:spcBef>
                <a:spcPts val="0"/>
              </a:spcBef>
              <a:spcAft>
                <a:spcPts val="0"/>
              </a:spcAft>
              <a:buSzPts val="3600"/>
              <a:buNone/>
              <a:defRPr sz="4800"/>
            </a:lvl7pPr>
            <a:lvl8pPr lvl="7" algn="l">
              <a:lnSpc>
                <a:spcPct val="100000"/>
              </a:lnSpc>
              <a:spcBef>
                <a:spcPts val="0"/>
              </a:spcBef>
              <a:spcAft>
                <a:spcPts val="0"/>
              </a:spcAft>
              <a:buSzPts val="3600"/>
              <a:buNone/>
              <a:defRPr sz="4800"/>
            </a:lvl8pPr>
            <a:lvl9pPr lvl="8" algn="l">
              <a:lnSpc>
                <a:spcPct val="100000"/>
              </a:lnSpc>
              <a:spcBef>
                <a:spcPts val="0"/>
              </a:spcBef>
              <a:spcAft>
                <a:spcPts val="0"/>
              </a:spcAft>
              <a:buSzPts val="3600"/>
              <a:buNone/>
              <a:defRPr sz="4800"/>
            </a:lvl9pPr>
          </a:lstStyle>
          <a:p>
            <a:r>
              <a:rPr lang="es-MX"/>
              <a:t>Haz clic para modificar el estilo de título del patrón</a:t>
            </a:r>
            <a:endParaRPr/>
          </a:p>
        </p:txBody>
      </p:sp>
      <p:cxnSp>
        <p:nvCxnSpPr>
          <p:cNvPr id="15" name="Google Shape;15;p47"/>
          <p:cNvCxnSpPr/>
          <p:nvPr/>
        </p:nvCxnSpPr>
        <p:spPr>
          <a:xfrm>
            <a:off x="-8033" y="4902016"/>
            <a:ext cx="12216000" cy="0"/>
          </a:xfrm>
          <a:prstGeom prst="straightConnector1">
            <a:avLst/>
          </a:prstGeom>
          <a:noFill/>
          <a:ln w="9525" cap="flat" cmpd="sng">
            <a:solidFill>
              <a:srgbClr val="000000"/>
            </a:solidFill>
            <a:prstDash val="solid"/>
            <a:round/>
            <a:headEnd type="none" w="sm" len="sm"/>
            <a:tailEnd type="none" w="sm" len="sm"/>
          </a:ln>
        </p:spPr>
      </p:cxnSp>
      <p:sp>
        <p:nvSpPr>
          <p:cNvPr id="16" name="Google Shape;16;p47"/>
          <p:cNvSpPr/>
          <p:nvPr/>
        </p:nvSpPr>
        <p:spPr>
          <a:xfrm>
            <a:off x="1490600" y="4524000"/>
            <a:ext cx="756000" cy="756000"/>
          </a:xfrm>
          <a:prstGeom prst="ellipse">
            <a:avLst/>
          </a:prstGeom>
          <a:solidFill>
            <a:srgbClr val="FFCD0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50"/>
        <p:cNvGrpSpPr/>
        <p:nvPr/>
      </p:nvGrpSpPr>
      <p:grpSpPr>
        <a:xfrm>
          <a:off x="0" y="0"/>
          <a:ext cx="0" cy="0"/>
          <a:chOff x="0" y="0"/>
          <a:chExt cx="0" cy="0"/>
        </a:xfrm>
      </p:grpSpPr>
      <p:cxnSp>
        <p:nvCxnSpPr>
          <p:cNvPr id="51" name="Google Shape;51;p54"/>
          <p:cNvCxnSpPr/>
          <p:nvPr/>
        </p:nvCxnSpPr>
        <p:spPr>
          <a:xfrm>
            <a:off x="0" y="1508967"/>
            <a:ext cx="12192000" cy="0"/>
          </a:xfrm>
          <a:prstGeom prst="straightConnector1">
            <a:avLst/>
          </a:prstGeom>
          <a:noFill/>
          <a:ln w="9525" cap="flat" cmpd="sng">
            <a:solidFill>
              <a:srgbClr val="CCCCCC"/>
            </a:solidFill>
            <a:prstDash val="solid"/>
            <a:round/>
            <a:headEnd type="none" w="sm" len="sm"/>
            <a:tailEnd type="none" w="sm" len="sm"/>
          </a:ln>
        </p:spPr>
      </p:cxnSp>
      <p:sp>
        <p:nvSpPr>
          <p:cNvPr id="52" name="Google Shape;52;p54"/>
          <p:cNvSpPr txBox="1">
            <a:spLocks noGrp="1"/>
          </p:cNvSpPr>
          <p:nvPr>
            <p:ph type="title"/>
          </p:nvPr>
        </p:nvSpPr>
        <p:spPr>
          <a:xfrm>
            <a:off x="1841667" y="1230224"/>
            <a:ext cx="5171200" cy="580800"/>
          </a:xfrm>
          <a:prstGeom prst="rect">
            <a:avLst/>
          </a:prstGeom>
          <a:solidFill>
            <a:schemeClr val="lt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000"/>
              <a:buNone/>
              <a:defRPr>
                <a:latin typeface="Arial"/>
                <a:ea typeface="Arial"/>
                <a:cs typeface="Arial"/>
                <a:sym typeface="Arial"/>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a:r>
              <a:rPr lang="es-MX"/>
              <a:t>Haz clic para modificar el estilo de título del patrón</a:t>
            </a:r>
            <a:endParaRPr/>
          </a:p>
        </p:txBody>
      </p:sp>
      <p:sp>
        <p:nvSpPr>
          <p:cNvPr id="53" name="Google Shape;53;p54"/>
          <p:cNvSpPr txBox="1">
            <a:spLocks noGrp="1"/>
          </p:cNvSpPr>
          <p:nvPr>
            <p:ph type="body" idx="1"/>
          </p:nvPr>
        </p:nvSpPr>
        <p:spPr>
          <a:xfrm>
            <a:off x="1841667" y="2158267"/>
            <a:ext cx="4567200" cy="4308000"/>
          </a:xfrm>
          <a:prstGeom prst="rect">
            <a:avLst/>
          </a:prstGeom>
          <a:noFill/>
          <a:ln>
            <a:noFill/>
          </a:ln>
        </p:spPr>
        <p:txBody>
          <a:bodyPr spcFirstLastPara="1" wrap="square" lIns="91425" tIns="91425" rIns="91425" bIns="91425" anchor="t" anchorCtr="0">
            <a:noAutofit/>
          </a:bodyPr>
          <a:lstStyle>
            <a:lvl1pPr marL="457200" lvl="0" indent="-355600" algn="l">
              <a:lnSpc>
                <a:spcPct val="100000"/>
              </a:lnSpc>
              <a:spcBef>
                <a:spcPts val="800"/>
              </a:spcBef>
              <a:spcAft>
                <a:spcPts val="0"/>
              </a:spcAft>
              <a:buSzPts val="2000"/>
              <a:buChar char="◉"/>
              <a:defRPr sz="2667">
                <a:latin typeface="Arial"/>
                <a:ea typeface="Arial"/>
                <a:cs typeface="Arial"/>
                <a:sym typeface="Arial"/>
              </a:defRPr>
            </a:lvl1pPr>
            <a:lvl2pPr marL="914400" lvl="1" indent="-355600" algn="l">
              <a:lnSpc>
                <a:spcPct val="100000"/>
              </a:lnSpc>
              <a:spcBef>
                <a:spcPts val="0"/>
              </a:spcBef>
              <a:spcAft>
                <a:spcPts val="0"/>
              </a:spcAft>
              <a:buSzPts val="2000"/>
              <a:buChar char="○"/>
              <a:defRPr/>
            </a:lvl2pPr>
            <a:lvl3pPr marL="1371600" lvl="2" indent="-355600" algn="l">
              <a:lnSpc>
                <a:spcPct val="100000"/>
              </a:lnSpc>
              <a:spcBef>
                <a:spcPts val="0"/>
              </a:spcBef>
              <a:spcAft>
                <a:spcPts val="0"/>
              </a:spcAft>
              <a:buSzPts val="2000"/>
              <a:buChar char="■"/>
              <a:defRPr/>
            </a:lvl3pPr>
            <a:lvl4pPr marL="1828800" lvl="3" indent="-355600" algn="l">
              <a:lnSpc>
                <a:spcPct val="100000"/>
              </a:lnSpc>
              <a:spcBef>
                <a:spcPts val="0"/>
              </a:spcBef>
              <a:spcAft>
                <a:spcPts val="0"/>
              </a:spcAft>
              <a:buSzPts val="2000"/>
              <a:buChar char="●"/>
              <a:defRPr sz="2667"/>
            </a:lvl4pPr>
            <a:lvl5pPr marL="2286000" lvl="4" indent="-355600" algn="l">
              <a:lnSpc>
                <a:spcPct val="100000"/>
              </a:lnSpc>
              <a:spcBef>
                <a:spcPts val="0"/>
              </a:spcBef>
              <a:spcAft>
                <a:spcPts val="0"/>
              </a:spcAft>
              <a:buSzPts val="2000"/>
              <a:buChar char="○"/>
              <a:defRPr sz="2667"/>
            </a:lvl5pPr>
            <a:lvl6pPr marL="2743200" lvl="5" indent="-355600" algn="l">
              <a:lnSpc>
                <a:spcPct val="100000"/>
              </a:lnSpc>
              <a:spcBef>
                <a:spcPts val="0"/>
              </a:spcBef>
              <a:spcAft>
                <a:spcPts val="0"/>
              </a:spcAft>
              <a:buSzPts val="2000"/>
              <a:buChar char="■"/>
              <a:defRPr sz="2667"/>
            </a:lvl6pPr>
            <a:lvl7pPr marL="3200400" lvl="6" indent="-355600" algn="l">
              <a:lnSpc>
                <a:spcPct val="100000"/>
              </a:lnSpc>
              <a:spcBef>
                <a:spcPts val="0"/>
              </a:spcBef>
              <a:spcAft>
                <a:spcPts val="0"/>
              </a:spcAft>
              <a:buSzPts val="2000"/>
              <a:buChar char="●"/>
              <a:defRPr sz="2667"/>
            </a:lvl7pPr>
            <a:lvl8pPr marL="3657600" lvl="7" indent="-355600" algn="l">
              <a:lnSpc>
                <a:spcPct val="100000"/>
              </a:lnSpc>
              <a:spcBef>
                <a:spcPts val="0"/>
              </a:spcBef>
              <a:spcAft>
                <a:spcPts val="0"/>
              </a:spcAft>
              <a:buSzPts val="2000"/>
              <a:buChar char="○"/>
              <a:defRPr sz="2667"/>
            </a:lvl8pPr>
            <a:lvl9pPr marL="4114800" lvl="8" indent="-355600" algn="l">
              <a:lnSpc>
                <a:spcPct val="100000"/>
              </a:lnSpc>
              <a:spcBef>
                <a:spcPts val="0"/>
              </a:spcBef>
              <a:spcAft>
                <a:spcPts val="0"/>
              </a:spcAft>
              <a:buSzPts val="2000"/>
              <a:buChar char="■"/>
              <a:defRPr sz="2667"/>
            </a:lvl9pPr>
          </a:lstStyle>
          <a:p>
            <a:pPr lvl="0"/>
            <a:r>
              <a:rPr lang="es-MX"/>
              <a:t>Haga clic para modificar los estilos de texto del patrón</a:t>
            </a:r>
          </a:p>
        </p:txBody>
      </p:sp>
      <p:sp>
        <p:nvSpPr>
          <p:cNvPr id="54" name="Google Shape;54;p54"/>
          <p:cNvSpPr txBox="1">
            <a:spLocks noGrp="1"/>
          </p:cNvSpPr>
          <p:nvPr>
            <p:ph type="body" idx="2"/>
          </p:nvPr>
        </p:nvSpPr>
        <p:spPr>
          <a:xfrm>
            <a:off x="6683888" y="2158267"/>
            <a:ext cx="4567200" cy="4308000"/>
          </a:xfrm>
          <a:prstGeom prst="rect">
            <a:avLst/>
          </a:prstGeom>
          <a:noFill/>
          <a:ln>
            <a:noFill/>
          </a:ln>
        </p:spPr>
        <p:txBody>
          <a:bodyPr spcFirstLastPara="1" wrap="square" lIns="91425" tIns="91425" rIns="91425" bIns="91425" anchor="t" anchorCtr="0">
            <a:noAutofit/>
          </a:bodyPr>
          <a:lstStyle>
            <a:lvl1pPr marL="457200" lvl="0" indent="-355600" algn="l">
              <a:lnSpc>
                <a:spcPct val="100000"/>
              </a:lnSpc>
              <a:spcBef>
                <a:spcPts val="800"/>
              </a:spcBef>
              <a:spcAft>
                <a:spcPts val="0"/>
              </a:spcAft>
              <a:buSzPts val="2000"/>
              <a:buChar char="◉"/>
              <a:defRPr sz="2667">
                <a:latin typeface="Arial"/>
                <a:ea typeface="Arial"/>
                <a:cs typeface="Arial"/>
                <a:sym typeface="Arial"/>
              </a:defRPr>
            </a:lvl1pPr>
            <a:lvl2pPr marL="914400" lvl="1" indent="-355600" algn="l">
              <a:lnSpc>
                <a:spcPct val="100000"/>
              </a:lnSpc>
              <a:spcBef>
                <a:spcPts val="0"/>
              </a:spcBef>
              <a:spcAft>
                <a:spcPts val="0"/>
              </a:spcAft>
              <a:buSzPts val="2000"/>
              <a:buChar char="○"/>
              <a:defRPr/>
            </a:lvl2pPr>
            <a:lvl3pPr marL="1371600" lvl="2" indent="-355600" algn="l">
              <a:lnSpc>
                <a:spcPct val="100000"/>
              </a:lnSpc>
              <a:spcBef>
                <a:spcPts val="0"/>
              </a:spcBef>
              <a:spcAft>
                <a:spcPts val="0"/>
              </a:spcAft>
              <a:buSzPts val="2000"/>
              <a:buChar char="■"/>
              <a:defRPr/>
            </a:lvl3pPr>
            <a:lvl4pPr marL="1828800" lvl="3" indent="-355600" algn="l">
              <a:lnSpc>
                <a:spcPct val="100000"/>
              </a:lnSpc>
              <a:spcBef>
                <a:spcPts val="0"/>
              </a:spcBef>
              <a:spcAft>
                <a:spcPts val="0"/>
              </a:spcAft>
              <a:buSzPts val="2000"/>
              <a:buChar char="●"/>
              <a:defRPr sz="2667"/>
            </a:lvl4pPr>
            <a:lvl5pPr marL="2286000" lvl="4" indent="-355600" algn="l">
              <a:lnSpc>
                <a:spcPct val="100000"/>
              </a:lnSpc>
              <a:spcBef>
                <a:spcPts val="0"/>
              </a:spcBef>
              <a:spcAft>
                <a:spcPts val="0"/>
              </a:spcAft>
              <a:buSzPts val="2000"/>
              <a:buChar char="○"/>
              <a:defRPr sz="2667"/>
            </a:lvl5pPr>
            <a:lvl6pPr marL="2743200" lvl="5" indent="-355600" algn="l">
              <a:lnSpc>
                <a:spcPct val="100000"/>
              </a:lnSpc>
              <a:spcBef>
                <a:spcPts val="0"/>
              </a:spcBef>
              <a:spcAft>
                <a:spcPts val="0"/>
              </a:spcAft>
              <a:buSzPts val="2000"/>
              <a:buChar char="■"/>
              <a:defRPr sz="2667"/>
            </a:lvl6pPr>
            <a:lvl7pPr marL="3200400" lvl="6" indent="-355600" algn="l">
              <a:lnSpc>
                <a:spcPct val="100000"/>
              </a:lnSpc>
              <a:spcBef>
                <a:spcPts val="0"/>
              </a:spcBef>
              <a:spcAft>
                <a:spcPts val="0"/>
              </a:spcAft>
              <a:buSzPts val="2000"/>
              <a:buChar char="●"/>
              <a:defRPr sz="2667"/>
            </a:lvl7pPr>
            <a:lvl8pPr marL="3657600" lvl="7" indent="-355600" algn="l">
              <a:lnSpc>
                <a:spcPct val="100000"/>
              </a:lnSpc>
              <a:spcBef>
                <a:spcPts val="0"/>
              </a:spcBef>
              <a:spcAft>
                <a:spcPts val="0"/>
              </a:spcAft>
              <a:buSzPts val="2000"/>
              <a:buChar char="○"/>
              <a:defRPr sz="2667"/>
            </a:lvl8pPr>
            <a:lvl9pPr marL="4114800" lvl="8" indent="-355600" algn="l">
              <a:lnSpc>
                <a:spcPct val="100000"/>
              </a:lnSpc>
              <a:spcBef>
                <a:spcPts val="0"/>
              </a:spcBef>
              <a:spcAft>
                <a:spcPts val="0"/>
              </a:spcAft>
              <a:buSzPts val="2000"/>
              <a:buChar char="■"/>
              <a:defRPr sz="2667"/>
            </a:lvl9pPr>
          </a:lstStyle>
          <a:p>
            <a:pPr lvl="0"/>
            <a:r>
              <a:rPr lang="es-MX"/>
              <a:t>Haga clic para modificar los estilos de texto del patrón</a:t>
            </a:r>
          </a:p>
        </p:txBody>
      </p:sp>
      <p:sp>
        <p:nvSpPr>
          <p:cNvPr id="55" name="Google Shape;55;p54"/>
          <p:cNvSpPr/>
          <p:nvPr/>
        </p:nvSpPr>
        <p:spPr>
          <a:xfrm>
            <a:off x="1089967" y="1238356"/>
            <a:ext cx="541200" cy="541200"/>
          </a:xfrm>
          <a:prstGeom prst="ellipse">
            <a:avLst/>
          </a:prstGeom>
          <a:solidFill>
            <a:srgbClr val="FFCD0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
        <p:nvSpPr>
          <p:cNvPr id="56" name="Google Shape;56;p54"/>
          <p:cNvSpPr txBox="1">
            <a:spLocks noGrp="1"/>
          </p:cNvSpPr>
          <p:nvPr>
            <p:ph type="sldNum" idx="12"/>
          </p:nvPr>
        </p:nvSpPr>
        <p:spPr>
          <a:xfrm>
            <a:off x="11390969" y="6333135"/>
            <a:ext cx="731600" cy="524800"/>
          </a:xfrm>
          <a:prstGeom prst="rect">
            <a:avLst/>
          </a:prstGeom>
          <a:noFill/>
          <a:ln>
            <a:noFill/>
          </a:ln>
        </p:spPr>
        <p:txBody>
          <a:bodyPr spcFirstLastPara="1" wrap="square" lIns="91425" tIns="91425" rIns="91425" bIns="91425" anchor="t" anchorCtr="0">
            <a:noAutofit/>
          </a:bodyPr>
          <a:lstStyle>
            <a:lvl1pPr marL="0" lvl="0"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1pPr>
            <a:lvl2pPr marL="0" lvl="1"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2pPr>
            <a:lvl3pPr marL="0" lvl="2"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3pPr>
            <a:lvl4pPr marL="0" lvl="3"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4pPr>
            <a:lvl5pPr marL="0" lvl="4"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5pPr>
            <a:lvl6pPr marL="0" lvl="5"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6pPr>
            <a:lvl7pPr marL="0" lvl="6"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7pPr>
            <a:lvl8pPr marL="0" lvl="7"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8pPr>
            <a:lvl9pPr marL="0" lvl="8"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p:cSld name="Title + 1 column">
    <p:spTree>
      <p:nvGrpSpPr>
        <p:cNvPr id="1" name="Shape 17"/>
        <p:cNvGrpSpPr/>
        <p:nvPr/>
      </p:nvGrpSpPr>
      <p:grpSpPr>
        <a:xfrm>
          <a:off x="0" y="0"/>
          <a:ext cx="0" cy="0"/>
          <a:chOff x="0" y="0"/>
          <a:chExt cx="0" cy="0"/>
        </a:xfrm>
      </p:grpSpPr>
      <p:sp>
        <p:nvSpPr>
          <p:cNvPr id="18" name="Google Shape;18;p48"/>
          <p:cNvSpPr txBox="1">
            <a:spLocks noGrp="1"/>
          </p:cNvSpPr>
          <p:nvPr>
            <p:ph type="body" idx="1"/>
          </p:nvPr>
        </p:nvSpPr>
        <p:spPr>
          <a:xfrm>
            <a:off x="1841667" y="1449687"/>
            <a:ext cx="9079600" cy="4848960"/>
          </a:xfrm>
          <a:prstGeom prst="rect">
            <a:avLst/>
          </a:prstGeom>
          <a:noFill/>
          <a:ln>
            <a:noFill/>
          </a:ln>
        </p:spPr>
        <p:txBody>
          <a:bodyPr spcFirstLastPara="1" wrap="square" lIns="91425" tIns="91425" rIns="91425" bIns="91425" anchor="t" anchorCtr="0">
            <a:noAutofit/>
          </a:bodyPr>
          <a:lstStyle>
            <a:lvl1pPr marL="457200" lvl="0" indent="-381000" algn="l">
              <a:lnSpc>
                <a:spcPct val="100000"/>
              </a:lnSpc>
              <a:spcBef>
                <a:spcPts val="800"/>
              </a:spcBef>
              <a:spcAft>
                <a:spcPts val="0"/>
              </a:spcAft>
              <a:buClr>
                <a:srgbClr val="FFCD00"/>
              </a:buClr>
              <a:buSzPts val="2400"/>
              <a:buFont typeface="Quattrocento Sans"/>
              <a:buChar char="◉"/>
              <a:defRPr sz="3200">
                <a:latin typeface="Arial"/>
                <a:ea typeface="Arial"/>
                <a:cs typeface="Arial"/>
                <a:sym typeface="Arial"/>
              </a:defRPr>
            </a:lvl1pPr>
            <a:lvl2pPr marL="914400" lvl="1" indent="-355600" algn="l">
              <a:lnSpc>
                <a:spcPct val="100000"/>
              </a:lnSpc>
              <a:spcBef>
                <a:spcPts val="0"/>
              </a:spcBef>
              <a:spcAft>
                <a:spcPts val="0"/>
              </a:spcAft>
              <a:buClr>
                <a:srgbClr val="FFCD00"/>
              </a:buClr>
              <a:buSzPts val="2000"/>
              <a:buFont typeface="Quattrocento Sans"/>
              <a:buChar char="○"/>
              <a:defRPr sz="2667">
                <a:latin typeface="Quattrocento Sans"/>
                <a:ea typeface="Quattrocento Sans"/>
                <a:cs typeface="Quattrocento Sans"/>
                <a:sym typeface="Quattrocento Sans"/>
              </a:defRPr>
            </a:lvl2pPr>
            <a:lvl3pPr marL="1371600" lvl="2" indent="-355600" algn="l">
              <a:lnSpc>
                <a:spcPct val="100000"/>
              </a:lnSpc>
              <a:spcBef>
                <a:spcPts val="0"/>
              </a:spcBef>
              <a:spcAft>
                <a:spcPts val="0"/>
              </a:spcAft>
              <a:buClr>
                <a:srgbClr val="FFCD00"/>
              </a:buClr>
              <a:buSzPts val="2000"/>
              <a:buFont typeface="Quattrocento Sans"/>
              <a:buChar char="■"/>
              <a:defRPr sz="2667">
                <a:latin typeface="Quattrocento Sans"/>
                <a:ea typeface="Quattrocento Sans"/>
                <a:cs typeface="Quattrocento Sans"/>
                <a:sym typeface="Quattrocento Sans"/>
              </a:defRPr>
            </a:lvl3pPr>
            <a:lvl4pPr marL="1828800" lvl="3" indent="-342900" algn="l">
              <a:lnSpc>
                <a:spcPct val="100000"/>
              </a:lnSpc>
              <a:spcBef>
                <a:spcPts val="0"/>
              </a:spcBef>
              <a:spcAft>
                <a:spcPts val="0"/>
              </a:spcAft>
              <a:buClr>
                <a:srgbClr val="FFCD00"/>
              </a:buClr>
              <a:buSzPts val="1800"/>
              <a:buFont typeface="Quattrocento Sans"/>
              <a:buChar char="●"/>
              <a:defRPr sz="2400">
                <a:latin typeface="Quattrocento Sans"/>
                <a:ea typeface="Quattrocento Sans"/>
                <a:cs typeface="Quattrocento Sans"/>
                <a:sym typeface="Quattrocento Sans"/>
              </a:defRPr>
            </a:lvl4pPr>
            <a:lvl5pPr marL="2286000" lvl="4" indent="-342900" algn="l">
              <a:lnSpc>
                <a:spcPct val="100000"/>
              </a:lnSpc>
              <a:spcBef>
                <a:spcPts val="0"/>
              </a:spcBef>
              <a:spcAft>
                <a:spcPts val="0"/>
              </a:spcAft>
              <a:buClr>
                <a:srgbClr val="FFCD00"/>
              </a:buClr>
              <a:buSzPts val="1800"/>
              <a:buFont typeface="Quattrocento Sans"/>
              <a:buChar char="○"/>
              <a:defRPr sz="2400">
                <a:latin typeface="Quattrocento Sans"/>
                <a:ea typeface="Quattrocento Sans"/>
                <a:cs typeface="Quattrocento Sans"/>
                <a:sym typeface="Quattrocento Sans"/>
              </a:defRPr>
            </a:lvl5pPr>
            <a:lvl6pPr marL="2743200" lvl="5" indent="-342900" algn="l">
              <a:lnSpc>
                <a:spcPct val="100000"/>
              </a:lnSpc>
              <a:spcBef>
                <a:spcPts val="0"/>
              </a:spcBef>
              <a:spcAft>
                <a:spcPts val="0"/>
              </a:spcAft>
              <a:buClr>
                <a:srgbClr val="FFCD00"/>
              </a:buClr>
              <a:buSzPts val="1800"/>
              <a:buFont typeface="Quattrocento Sans"/>
              <a:buChar char="■"/>
              <a:defRPr sz="2400">
                <a:latin typeface="Quattrocento Sans"/>
                <a:ea typeface="Quattrocento Sans"/>
                <a:cs typeface="Quattrocento Sans"/>
                <a:sym typeface="Quattrocento Sans"/>
              </a:defRPr>
            </a:lvl6pPr>
            <a:lvl7pPr marL="3200400" lvl="6" indent="-342900" algn="l">
              <a:lnSpc>
                <a:spcPct val="100000"/>
              </a:lnSpc>
              <a:spcBef>
                <a:spcPts val="0"/>
              </a:spcBef>
              <a:spcAft>
                <a:spcPts val="0"/>
              </a:spcAft>
              <a:buClr>
                <a:srgbClr val="FFCD00"/>
              </a:buClr>
              <a:buSzPts val="1800"/>
              <a:buFont typeface="Quattrocento Sans"/>
              <a:buChar char="●"/>
              <a:defRPr sz="2400">
                <a:latin typeface="Quattrocento Sans"/>
                <a:ea typeface="Quattrocento Sans"/>
                <a:cs typeface="Quattrocento Sans"/>
                <a:sym typeface="Quattrocento Sans"/>
              </a:defRPr>
            </a:lvl7pPr>
            <a:lvl8pPr marL="3657600" lvl="7" indent="-342900" algn="l">
              <a:lnSpc>
                <a:spcPct val="100000"/>
              </a:lnSpc>
              <a:spcBef>
                <a:spcPts val="0"/>
              </a:spcBef>
              <a:spcAft>
                <a:spcPts val="0"/>
              </a:spcAft>
              <a:buClr>
                <a:srgbClr val="FFCD00"/>
              </a:buClr>
              <a:buSzPts val="1800"/>
              <a:buFont typeface="Quattrocento Sans"/>
              <a:buChar char="○"/>
              <a:defRPr sz="2400">
                <a:latin typeface="Quattrocento Sans"/>
                <a:ea typeface="Quattrocento Sans"/>
                <a:cs typeface="Quattrocento Sans"/>
                <a:sym typeface="Quattrocento Sans"/>
              </a:defRPr>
            </a:lvl8pPr>
            <a:lvl9pPr marL="4114800" lvl="8" indent="-342900" algn="l">
              <a:lnSpc>
                <a:spcPct val="100000"/>
              </a:lnSpc>
              <a:spcBef>
                <a:spcPts val="0"/>
              </a:spcBef>
              <a:spcAft>
                <a:spcPts val="0"/>
              </a:spcAft>
              <a:buClr>
                <a:srgbClr val="FFCD00"/>
              </a:buClr>
              <a:buSzPts val="1800"/>
              <a:buFont typeface="Quattrocento Sans"/>
              <a:buChar char="■"/>
              <a:defRPr sz="2400">
                <a:latin typeface="Quattrocento Sans"/>
                <a:ea typeface="Quattrocento Sans"/>
                <a:cs typeface="Quattrocento Sans"/>
                <a:sym typeface="Quattrocento Sans"/>
              </a:defRPr>
            </a:lvl9pPr>
          </a:lstStyle>
          <a:p>
            <a:pPr lvl="0"/>
            <a:r>
              <a:rPr lang="es-MX"/>
              <a:t>Haga clic para modificar los estilos de texto del patrón</a:t>
            </a:r>
          </a:p>
        </p:txBody>
      </p:sp>
      <p:sp>
        <p:nvSpPr>
          <p:cNvPr id="19" name="Google Shape;19;p48"/>
          <p:cNvSpPr txBox="1">
            <a:spLocks noGrp="1"/>
          </p:cNvSpPr>
          <p:nvPr>
            <p:ph type="sldNum" idx="12"/>
          </p:nvPr>
        </p:nvSpPr>
        <p:spPr>
          <a:xfrm>
            <a:off x="11390969" y="6333135"/>
            <a:ext cx="731600" cy="524800"/>
          </a:xfrm>
          <a:prstGeom prst="rect">
            <a:avLst/>
          </a:prstGeom>
          <a:noFill/>
          <a:ln>
            <a:noFill/>
          </a:ln>
        </p:spPr>
        <p:txBody>
          <a:bodyPr spcFirstLastPara="1" wrap="square" lIns="91425" tIns="91425" rIns="91425" bIns="91425" anchor="t" anchorCtr="0">
            <a:noAutofit/>
          </a:bodyPr>
          <a:lstStyle>
            <a:lvl1pPr marL="0" lvl="0"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1pPr>
            <a:lvl2pPr marL="0" lvl="1"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2pPr>
            <a:lvl3pPr marL="0" lvl="2"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3pPr>
            <a:lvl4pPr marL="0" lvl="3"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4pPr>
            <a:lvl5pPr marL="0" lvl="4"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5pPr>
            <a:lvl6pPr marL="0" lvl="5"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6pPr>
            <a:lvl7pPr marL="0" lvl="6"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7pPr>
            <a:lvl8pPr marL="0" lvl="7"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8pPr>
            <a:lvl9pPr marL="0" lvl="8" indent="0" algn="r">
              <a:lnSpc>
                <a:spcPct val="100000"/>
              </a:lnSpc>
              <a:spcBef>
                <a:spcPts val="0"/>
              </a:spcBef>
              <a:spcAft>
                <a:spcPts val="0"/>
              </a:spcAft>
              <a:buSzPts val="1333"/>
              <a:buNone/>
              <a:defRPr sz="1333" b="0" i="0" u="none" strike="noStrike" cap="none">
                <a:solidFill>
                  <a:srgbClr val="1D1D1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cxnSp>
        <p:nvCxnSpPr>
          <p:cNvPr id="20" name="Google Shape;20;p48"/>
          <p:cNvCxnSpPr/>
          <p:nvPr/>
        </p:nvCxnSpPr>
        <p:spPr>
          <a:xfrm>
            <a:off x="-13063" y="868887"/>
            <a:ext cx="12192000" cy="0"/>
          </a:xfrm>
          <a:prstGeom prst="straightConnector1">
            <a:avLst/>
          </a:prstGeom>
          <a:noFill/>
          <a:ln w="9525" cap="flat" cmpd="sng">
            <a:solidFill>
              <a:srgbClr val="CCCCCC"/>
            </a:solidFill>
            <a:prstDash val="solid"/>
            <a:round/>
            <a:headEnd type="none" w="sm" len="sm"/>
            <a:tailEnd type="none" w="sm" len="sm"/>
          </a:ln>
        </p:spPr>
      </p:cxnSp>
      <p:sp>
        <p:nvSpPr>
          <p:cNvPr id="21" name="Google Shape;21;p48"/>
          <p:cNvSpPr/>
          <p:nvPr/>
        </p:nvSpPr>
        <p:spPr>
          <a:xfrm>
            <a:off x="1076904" y="598276"/>
            <a:ext cx="541200" cy="541200"/>
          </a:xfrm>
          <a:prstGeom prst="ellipse">
            <a:avLst/>
          </a:prstGeom>
          <a:solidFill>
            <a:srgbClr val="FFCD00"/>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
        <p:nvSpPr>
          <p:cNvPr id="22" name="Google Shape;22;p48"/>
          <p:cNvSpPr txBox="1">
            <a:spLocks noGrp="1"/>
          </p:cNvSpPr>
          <p:nvPr>
            <p:ph type="title"/>
          </p:nvPr>
        </p:nvSpPr>
        <p:spPr>
          <a:xfrm>
            <a:off x="1841667" y="576617"/>
            <a:ext cx="5171200" cy="580800"/>
          </a:xfrm>
          <a:prstGeom prst="rect">
            <a:avLst/>
          </a:prstGeom>
          <a:solidFill>
            <a:schemeClr val="lt1"/>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000"/>
              <a:buFont typeface="Lora"/>
              <a:buNone/>
              <a:defRPr sz="2667" b="1">
                <a:latin typeface="Arial"/>
                <a:ea typeface="Arial"/>
                <a:cs typeface="Arial"/>
                <a:sym typeface="Arial"/>
              </a:defRPr>
            </a:lvl1pPr>
            <a:lvl2pPr lvl="1"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2pPr>
            <a:lvl3pPr lvl="2"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3pPr>
            <a:lvl4pPr lvl="3"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4pPr>
            <a:lvl5pPr lvl="4"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5pPr>
            <a:lvl6pPr lvl="5"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6pPr>
            <a:lvl7pPr lvl="6"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7pPr>
            <a:lvl8pPr lvl="7"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8pPr>
            <a:lvl9pPr lvl="8" algn="l">
              <a:lnSpc>
                <a:spcPct val="100000"/>
              </a:lnSpc>
              <a:spcBef>
                <a:spcPts val="0"/>
              </a:spcBef>
              <a:spcAft>
                <a:spcPts val="0"/>
              </a:spcAft>
              <a:buSzPts val="2000"/>
              <a:buFont typeface="Lora"/>
              <a:buNone/>
              <a:defRPr sz="2667" b="1">
                <a:highlight>
                  <a:srgbClr val="FFFFFF"/>
                </a:highlight>
                <a:latin typeface="Lora"/>
                <a:ea typeface="Lora"/>
                <a:cs typeface="Lora"/>
                <a:sym typeface="Lora"/>
              </a:defRPr>
            </a:lvl9pPr>
          </a:lstStyle>
          <a:p>
            <a:r>
              <a:rPr lang="es-MX"/>
              <a:t>Haz clic para modificar el estilo de título del patrón</a:t>
            </a:r>
            <a:endParaRPr/>
          </a:p>
        </p:txBody>
      </p:sp>
    </p:spTree>
    <p:extLst>
      <p:ext uri="{BB962C8B-B14F-4D97-AF65-F5344CB8AC3E}">
        <p14:creationId xmlns:p14="http://schemas.microsoft.com/office/powerpoint/2010/main" val="44465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6"/>
          <p:cNvSpPr txBox="1">
            <a:spLocks noGrp="1"/>
          </p:cNvSpPr>
          <p:nvPr>
            <p:ph type="body" idx="1"/>
          </p:nvPr>
        </p:nvSpPr>
        <p:spPr>
          <a:xfrm>
            <a:off x="1841667" y="2155293"/>
            <a:ext cx="9079600" cy="4149600"/>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600"/>
              </a:spcBef>
              <a:spcAft>
                <a:spcPts val="0"/>
              </a:spcAft>
              <a:buClr>
                <a:srgbClr val="FFCD00"/>
              </a:buClr>
              <a:buSzPts val="2400"/>
              <a:buFont typeface="Quattrocento Sans"/>
              <a:buChar char="◉"/>
              <a:defRPr sz="2400" b="0" i="0" u="none" strike="noStrike" cap="none">
                <a:solidFill>
                  <a:srgbClr val="000000"/>
                </a:solidFill>
                <a:latin typeface="Quattrocento Sans"/>
                <a:ea typeface="Quattrocento Sans"/>
                <a:cs typeface="Quattrocento Sans"/>
                <a:sym typeface="Quattrocento Sans"/>
              </a:defRPr>
            </a:lvl1pPr>
            <a:lvl2pPr marL="914400" marR="0" lvl="1" indent="-355600" algn="l" rtl="0">
              <a:lnSpc>
                <a:spcPct val="100000"/>
              </a:lnSpc>
              <a:spcBef>
                <a:spcPts val="0"/>
              </a:spcBef>
              <a:spcAft>
                <a:spcPts val="0"/>
              </a:spcAft>
              <a:buClr>
                <a:srgbClr val="FFCD00"/>
              </a:buClr>
              <a:buSzPts val="2000"/>
              <a:buFont typeface="Quattrocento Sans"/>
              <a:buChar char="○"/>
              <a:defRPr sz="2000" b="0" i="0" u="none" strike="noStrike" cap="none">
                <a:solidFill>
                  <a:srgbClr val="000000"/>
                </a:solidFill>
                <a:latin typeface="Quattrocento Sans"/>
                <a:ea typeface="Quattrocento Sans"/>
                <a:cs typeface="Quattrocento Sans"/>
                <a:sym typeface="Quattrocento Sans"/>
              </a:defRPr>
            </a:lvl2pPr>
            <a:lvl3pPr marL="1371600" marR="0" lvl="2" indent="-355600" algn="l" rtl="0">
              <a:lnSpc>
                <a:spcPct val="100000"/>
              </a:lnSpc>
              <a:spcBef>
                <a:spcPts val="0"/>
              </a:spcBef>
              <a:spcAft>
                <a:spcPts val="0"/>
              </a:spcAft>
              <a:buClr>
                <a:srgbClr val="FFCD00"/>
              </a:buClr>
              <a:buSzPts val="2000"/>
              <a:buFont typeface="Quattrocento Sans"/>
              <a:buChar char="■"/>
              <a:defRPr sz="2000" b="0" i="0" u="none" strike="noStrike" cap="none">
                <a:solidFill>
                  <a:srgbClr val="000000"/>
                </a:solidFill>
                <a:latin typeface="Quattrocento Sans"/>
                <a:ea typeface="Quattrocento Sans"/>
                <a:cs typeface="Quattrocento Sans"/>
                <a:sym typeface="Quattrocento Sans"/>
              </a:defRPr>
            </a:lvl3pPr>
            <a:lvl4pPr marL="1828800" marR="0" lvl="3"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4pPr>
            <a:lvl5pPr marL="2286000" marR="0" lvl="4"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5pPr>
            <a:lvl6pPr marL="2743200" marR="0" lvl="5"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6pPr>
            <a:lvl7pPr marL="3200400" marR="0" lvl="6"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7pPr>
            <a:lvl8pPr marL="3657600" marR="0" lvl="7"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8pPr>
            <a:lvl9pPr marL="4114800" marR="0" lvl="8" indent="-342900" algn="l" rtl="0">
              <a:lnSpc>
                <a:spcPct val="100000"/>
              </a:lnSpc>
              <a:spcBef>
                <a:spcPts val="0"/>
              </a:spcBef>
              <a:spcAft>
                <a:spcPts val="0"/>
              </a:spcAft>
              <a:buClr>
                <a:srgbClr val="FFCD00"/>
              </a:buClr>
              <a:buSzPts val="1800"/>
              <a:buFont typeface="Quattrocento Sans"/>
              <a:buChar char="■"/>
              <a:defRPr sz="1800" b="0" i="0" u="none" strike="noStrike" cap="none">
                <a:solidFill>
                  <a:srgbClr val="000000"/>
                </a:solidFill>
                <a:latin typeface="Quattrocento Sans"/>
                <a:ea typeface="Quattrocento Sans"/>
                <a:cs typeface="Quattrocento Sans"/>
                <a:sym typeface="Quattrocento Sans"/>
              </a:defRPr>
            </a:lvl9pPr>
          </a:lstStyle>
          <a:p>
            <a:endParaRPr/>
          </a:p>
        </p:txBody>
      </p:sp>
      <p:sp>
        <p:nvSpPr>
          <p:cNvPr id="11" name="Google Shape;11;p46"/>
          <p:cNvSpPr txBox="1">
            <a:spLocks noGrp="1"/>
          </p:cNvSpPr>
          <p:nvPr>
            <p:ph type="title"/>
          </p:nvPr>
        </p:nvSpPr>
        <p:spPr>
          <a:xfrm>
            <a:off x="1841667" y="1249489"/>
            <a:ext cx="9079600" cy="5808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1pPr>
            <a:lvl2pPr marR="0" lvl="1"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2pPr>
            <a:lvl3pPr marR="0" lvl="2"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3pPr>
            <a:lvl4pPr marR="0" lvl="3"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4pPr>
            <a:lvl5pPr marR="0" lvl="4"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5pPr>
            <a:lvl6pPr marR="0" lvl="5"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6pPr>
            <a:lvl7pPr marR="0" lvl="6"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7pPr>
            <a:lvl8pPr marR="0" lvl="7"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8pPr>
            <a:lvl9pPr marR="0" lvl="8" algn="l" rtl="0">
              <a:lnSpc>
                <a:spcPct val="100000"/>
              </a:lnSpc>
              <a:spcBef>
                <a:spcPts val="0"/>
              </a:spcBef>
              <a:spcAft>
                <a:spcPts val="0"/>
              </a:spcAft>
              <a:buClr>
                <a:srgbClr val="000000"/>
              </a:buClr>
              <a:buSzPts val="2000"/>
              <a:buFont typeface="Lora"/>
              <a:buNone/>
              <a:defRPr sz="2000" b="1" i="0" u="none" strike="noStrike" cap="none">
                <a:solidFill>
                  <a:srgbClr val="000000"/>
                </a:solidFill>
                <a:latin typeface="Lora"/>
                <a:ea typeface="Lora"/>
                <a:cs typeface="Lora"/>
                <a:sym typeface="Lora"/>
              </a:defRPr>
            </a:lvl9pPr>
          </a:lstStyle>
          <a:p>
            <a:endParaRPr/>
          </a:p>
        </p:txBody>
      </p:sp>
      <p:sp>
        <p:nvSpPr>
          <p:cNvPr id="12" name="Google Shape;12;p46"/>
          <p:cNvSpPr txBox="1">
            <a:spLocks noGrp="1"/>
          </p:cNvSpPr>
          <p:nvPr>
            <p:ph type="sldNum" idx="12"/>
          </p:nvPr>
        </p:nvSpPr>
        <p:spPr>
          <a:xfrm>
            <a:off x="11390969" y="6333135"/>
            <a:ext cx="731600" cy="5248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33"/>
              <a:buFont typeface="Arial"/>
              <a:buNone/>
              <a:defRPr sz="1333" b="0" i="0" u="none" strike="noStrike" cap="none">
                <a:solidFill>
                  <a:srgbClr val="1D1D1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6" r:id="rId2"/>
    <p:sldLayoutId id="2147483657" r:id="rId3"/>
  </p:sldLayoutIdLst>
  <p:transition>
    <p:fade thruBlk="1"/>
  </p:transition>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doi.org/10.1016/j.jaci.2024.02.023"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4.sv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
          <p:cNvSpPr txBox="1">
            <a:spLocks noGrp="1"/>
          </p:cNvSpPr>
          <p:nvPr>
            <p:ph type="ctrTitle"/>
          </p:nvPr>
        </p:nvSpPr>
        <p:spPr>
          <a:xfrm>
            <a:off x="367990" y="1820241"/>
            <a:ext cx="11824009" cy="2381648"/>
          </a:xfrm>
          <a:prstGeom prst="rect">
            <a:avLst/>
          </a:prstGeom>
          <a:noFill/>
          <a:ln>
            <a:noFill/>
          </a:ln>
        </p:spPr>
        <p:txBody>
          <a:bodyPr spcFirstLastPara="1" wrap="square" lIns="91425" tIns="91425" rIns="91425" bIns="91425" anchor="b" anchorCtr="0">
            <a:noAutofit/>
          </a:bodyPr>
          <a:lstStyle/>
          <a:p>
            <a:r>
              <a:rPr lang="en-US" sz="4400" dirty="0"/>
              <a:t>Metabolomics identifies phenotypic biomarkers of amino acid metabolism in milk allergy and sensitized tolerance</a:t>
            </a:r>
            <a:endParaRPr lang="en-US" sz="4400" dirty="0">
              <a:latin typeface="Arial"/>
              <a:ea typeface="Arial"/>
              <a:cs typeface="Arial"/>
            </a:endParaRPr>
          </a:p>
        </p:txBody>
      </p:sp>
      <p:grpSp>
        <p:nvGrpSpPr>
          <p:cNvPr id="84" name="Google Shape;84;p1"/>
          <p:cNvGrpSpPr/>
          <p:nvPr/>
        </p:nvGrpSpPr>
        <p:grpSpPr>
          <a:xfrm>
            <a:off x="1627200" y="4680000"/>
            <a:ext cx="452420" cy="433992"/>
            <a:chOff x="5233525" y="4954450"/>
            <a:chExt cx="538275" cy="516350"/>
          </a:xfrm>
        </p:grpSpPr>
        <p:sp>
          <p:nvSpPr>
            <p:cNvPr id="85" name="Google Shape;85;p1"/>
            <p:cNvSpPr/>
            <p:nvPr/>
          </p:nvSpPr>
          <p:spPr>
            <a:xfrm>
              <a:off x="5637825" y="4954450"/>
              <a:ext cx="89525" cy="89525"/>
            </a:xfrm>
            <a:custGeom>
              <a:avLst/>
              <a:gdLst/>
              <a:ahLst/>
              <a:cxnLst/>
              <a:rect l="l" t="t" r="r" b="b"/>
              <a:pathLst>
                <a:path w="3581" h="3581" fill="none" extrusionOk="0">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86" name="Google Shape;86;p1"/>
            <p:cNvSpPr/>
            <p:nvPr/>
          </p:nvSpPr>
          <p:spPr>
            <a:xfrm>
              <a:off x="5323025" y="4980625"/>
              <a:ext cx="88925" cy="88925"/>
            </a:xfrm>
            <a:custGeom>
              <a:avLst/>
              <a:gdLst/>
              <a:ahLst/>
              <a:cxnLst/>
              <a:rect l="l" t="t" r="r" b="b"/>
              <a:pathLst>
                <a:path w="3557" h="3557" fill="none" extrusionOk="0">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87" name="Google Shape;87;p1"/>
            <p:cNvSpPr/>
            <p:nvPr/>
          </p:nvSpPr>
          <p:spPr>
            <a:xfrm>
              <a:off x="5233525" y="5255225"/>
              <a:ext cx="89525" cy="89525"/>
            </a:xfrm>
            <a:custGeom>
              <a:avLst/>
              <a:gdLst/>
              <a:ahLst/>
              <a:cxnLst/>
              <a:rect l="l" t="t" r="r" b="b"/>
              <a:pathLst>
                <a:path w="3581" h="3581" fill="none" extrusionOk="0">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88" name="Google Shape;88;p1"/>
            <p:cNvSpPr/>
            <p:nvPr/>
          </p:nvSpPr>
          <p:spPr>
            <a:xfrm>
              <a:off x="5453325" y="5382475"/>
              <a:ext cx="88925" cy="88325"/>
            </a:xfrm>
            <a:custGeom>
              <a:avLst/>
              <a:gdLst/>
              <a:ahLst/>
              <a:cxnLst/>
              <a:rect l="l" t="t" r="r" b="b"/>
              <a:pathLst>
                <a:path w="3557" h="3533" fill="none" extrusionOk="0">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89" name="Google Shape;89;p1"/>
            <p:cNvSpPr/>
            <p:nvPr/>
          </p:nvSpPr>
          <p:spPr>
            <a:xfrm>
              <a:off x="5682875" y="5188875"/>
              <a:ext cx="88925" cy="89525"/>
            </a:xfrm>
            <a:custGeom>
              <a:avLst/>
              <a:gdLst/>
              <a:ahLst/>
              <a:cxnLst/>
              <a:rect l="l" t="t" r="r" b="b"/>
              <a:pathLst>
                <a:path w="3557" h="3581" fill="none" extrusionOk="0">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90" name="Google Shape;90;p1"/>
            <p:cNvSpPr/>
            <p:nvPr/>
          </p:nvSpPr>
          <p:spPr>
            <a:xfrm>
              <a:off x="5411925" y="5110925"/>
              <a:ext cx="188775" cy="189400"/>
            </a:xfrm>
            <a:custGeom>
              <a:avLst/>
              <a:gdLst/>
              <a:ahLst/>
              <a:cxnLst/>
              <a:rect l="l" t="t" r="r" b="b"/>
              <a:pathLst>
                <a:path w="7551" h="7576" fill="none" extrusionOk="0">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91" name="Google Shape;91;p1"/>
            <p:cNvSpPr/>
            <p:nvPr/>
          </p:nvSpPr>
          <p:spPr>
            <a:xfrm>
              <a:off x="5367475" y="5025075"/>
              <a:ext cx="81600" cy="105975"/>
            </a:xfrm>
            <a:custGeom>
              <a:avLst/>
              <a:gdLst/>
              <a:ahLst/>
              <a:cxnLst/>
              <a:rect l="l" t="t" r="r" b="b"/>
              <a:pathLst>
                <a:path w="3264" h="4239" fill="none" extrusionOk="0">
                  <a:moveTo>
                    <a:pt x="0" y="1"/>
                  </a:moveTo>
                  <a:lnTo>
                    <a:pt x="3264" y="4238"/>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92" name="Google Shape;92;p1"/>
            <p:cNvSpPr/>
            <p:nvPr/>
          </p:nvSpPr>
          <p:spPr>
            <a:xfrm>
              <a:off x="5567800" y="4999500"/>
              <a:ext cx="115100" cy="133975"/>
            </a:xfrm>
            <a:custGeom>
              <a:avLst/>
              <a:gdLst/>
              <a:ahLst/>
              <a:cxnLst/>
              <a:rect l="l" t="t" r="r" b="b"/>
              <a:pathLst>
                <a:path w="4604" h="5359" fill="none" extrusionOk="0">
                  <a:moveTo>
                    <a:pt x="0" y="5359"/>
                  </a:moveTo>
                  <a:lnTo>
                    <a:pt x="4603"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93" name="Google Shape;93;p1"/>
            <p:cNvSpPr/>
            <p:nvPr/>
          </p:nvSpPr>
          <p:spPr>
            <a:xfrm>
              <a:off x="5600075" y="5217475"/>
              <a:ext cx="127275" cy="16475"/>
            </a:xfrm>
            <a:custGeom>
              <a:avLst/>
              <a:gdLst/>
              <a:ahLst/>
              <a:cxnLst/>
              <a:rect l="l" t="t" r="r" b="b"/>
              <a:pathLst>
                <a:path w="5091" h="659" fill="none" extrusionOk="0">
                  <a:moveTo>
                    <a:pt x="5090" y="658"/>
                  </a:moveTo>
                  <a:lnTo>
                    <a:pt x="0"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94" name="Google Shape;94;p1"/>
            <p:cNvSpPr/>
            <p:nvPr/>
          </p:nvSpPr>
          <p:spPr>
            <a:xfrm>
              <a:off x="5497775" y="5299675"/>
              <a:ext cx="4900" cy="126675"/>
            </a:xfrm>
            <a:custGeom>
              <a:avLst/>
              <a:gdLst/>
              <a:ahLst/>
              <a:cxnLst/>
              <a:rect l="l" t="t" r="r" b="b"/>
              <a:pathLst>
                <a:path w="196" h="5067" fill="none" extrusionOk="0">
                  <a:moveTo>
                    <a:pt x="0" y="5067"/>
                  </a:moveTo>
                  <a:lnTo>
                    <a:pt x="195"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sp>
          <p:nvSpPr>
            <p:cNvPr id="95" name="Google Shape;95;p1"/>
            <p:cNvSpPr/>
            <p:nvPr/>
          </p:nvSpPr>
          <p:spPr>
            <a:xfrm>
              <a:off x="5277975" y="5241825"/>
              <a:ext cx="141275" cy="58500"/>
            </a:xfrm>
            <a:custGeom>
              <a:avLst/>
              <a:gdLst/>
              <a:ahLst/>
              <a:cxnLst/>
              <a:rect l="l" t="t" r="r" b="b"/>
              <a:pathLst>
                <a:path w="5651" h="2340" fill="none" extrusionOk="0">
                  <a:moveTo>
                    <a:pt x="0" y="2339"/>
                  </a:moveTo>
                  <a:lnTo>
                    <a:pt x="5651" y="1"/>
                  </a:lnTo>
                </a:path>
              </a:pathLst>
            </a:custGeom>
            <a:no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ora"/>
                <a:ea typeface="Lora"/>
                <a:cs typeface="Lora"/>
                <a:sym typeface="Lora"/>
              </a:endParaRPr>
            </a:p>
          </p:txBody>
        </p:sp>
      </p:grpSp>
      <p:pic>
        <p:nvPicPr>
          <p:cNvPr id="1028" name="Picture 4" descr="Símbolos Universidad de los Andes | Uniandes">
            <a:extLst>
              <a:ext uri="{FF2B5EF4-FFF2-40B4-BE49-F238E27FC236}">
                <a16:creationId xmlns:a16="http://schemas.microsoft.com/office/drawing/2014/main" id="{91F97288-6049-4603-A119-82D64E663D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621" t="23910" r="8977" b="29188"/>
          <a:stretch/>
        </p:blipFill>
        <p:spPr bwMode="auto">
          <a:xfrm>
            <a:off x="689536" y="388211"/>
            <a:ext cx="2491498" cy="801390"/>
          </a:xfrm>
          <a:prstGeom prst="rect">
            <a:avLst/>
          </a:prstGeom>
          <a:noFill/>
          <a:extLst>
            <a:ext uri="{909E8E84-426E-40DD-AFC4-6F175D3DCCD1}">
              <a14:hiddenFill xmlns:a14="http://schemas.microsoft.com/office/drawing/2010/main">
                <a:solidFill>
                  <a:srgbClr val="FFFFFF"/>
                </a:solidFill>
              </a14:hiddenFill>
            </a:ext>
          </a:extLst>
        </p:spPr>
      </p:pic>
      <p:sp>
        <p:nvSpPr>
          <p:cNvPr id="18" name="Google Shape;83;p1">
            <a:extLst>
              <a:ext uri="{FF2B5EF4-FFF2-40B4-BE49-F238E27FC236}">
                <a16:creationId xmlns:a16="http://schemas.microsoft.com/office/drawing/2014/main" id="{C33C84D9-1046-4A5C-A434-969A4DB1B5E0}"/>
              </a:ext>
            </a:extLst>
          </p:cNvPr>
          <p:cNvSpPr txBox="1"/>
          <p:nvPr/>
        </p:nvSpPr>
        <p:spPr>
          <a:xfrm>
            <a:off x="2600158" y="4201889"/>
            <a:ext cx="8924553" cy="1741970"/>
          </a:xfrm>
          <a:prstGeom prst="rect">
            <a:avLst/>
          </a:prstGeom>
          <a:noFill/>
          <a:ln>
            <a:noFill/>
          </a:ln>
        </p:spPr>
        <p:txBody>
          <a:bodyPr spcFirstLastPara="1" wrap="square" lIns="91425" tIns="45700" rIns="91425" bIns="45700" anchor="t" anchorCtr="0">
            <a:normAutofit/>
          </a:bodyPr>
          <a:lstStyle/>
          <a:p>
            <a:pPr>
              <a:lnSpc>
                <a:spcPct val="150000"/>
              </a:lnSpc>
            </a:pPr>
            <a:r>
              <a:rPr lang="en-US" sz="1480" dirty="0" err="1"/>
              <a:t>Qiaozhi</a:t>
            </a:r>
            <a:r>
              <a:rPr lang="en-US" sz="1480" dirty="0"/>
              <a:t> Zhang, Hui Wang, </a:t>
            </a:r>
            <a:r>
              <a:rPr lang="en-US" sz="1480" dirty="0" err="1"/>
              <a:t>Shenyu</a:t>
            </a:r>
            <a:r>
              <a:rPr lang="en-US" sz="1480" dirty="0"/>
              <a:t> Zhang, </a:t>
            </a:r>
            <a:r>
              <a:rPr lang="en-US" sz="1480" dirty="0" err="1"/>
              <a:t>Mingwu</a:t>
            </a:r>
            <a:r>
              <a:rPr lang="en-US" sz="1480" dirty="0"/>
              <a:t> Chen, Zhongshan Gao, </a:t>
            </a:r>
            <a:r>
              <a:rPr lang="en-US" sz="1480" dirty="0" err="1"/>
              <a:t>Jinlyu</a:t>
            </a:r>
            <a:r>
              <a:rPr lang="en-US" sz="1480" dirty="0"/>
              <a:t> Sun, </a:t>
            </a:r>
            <a:r>
              <a:rPr lang="en-US" sz="1480" dirty="0" err="1"/>
              <a:t>Jizhou</a:t>
            </a:r>
            <a:r>
              <a:rPr lang="en-US" sz="1480" dirty="0"/>
              <a:t> Wang y </a:t>
            </a:r>
            <a:r>
              <a:rPr lang="en-US" sz="1480" dirty="0" err="1"/>
              <a:t>Linglin</a:t>
            </a:r>
            <a:r>
              <a:rPr lang="en-US" sz="1480" dirty="0"/>
              <a:t> Fu</a:t>
            </a:r>
          </a:p>
          <a:p>
            <a:pPr>
              <a:lnSpc>
                <a:spcPct val="150000"/>
              </a:lnSpc>
            </a:pPr>
            <a:r>
              <a:rPr lang="en-US" sz="1480" b="0" i="0" u="none" strike="noStrike" cap="none" dirty="0">
                <a:solidFill>
                  <a:srgbClr val="000000"/>
                </a:solidFill>
                <a:latin typeface="Arial"/>
                <a:ea typeface="Arial"/>
                <a:cs typeface="Arial"/>
                <a:sym typeface="Arial"/>
              </a:rPr>
              <a:t>School of Food Science and Biotechnology, Zhejiang University, Hangzhou, China</a:t>
            </a:r>
          </a:p>
          <a:p>
            <a:pPr>
              <a:lnSpc>
                <a:spcPct val="150000"/>
              </a:lnSpc>
            </a:pPr>
            <a:endParaRPr lang="en-US" sz="1480" b="0" i="0" u="none" strike="noStrike" cap="none" dirty="0">
              <a:solidFill>
                <a:srgbClr val="000000"/>
              </a:solidFill>
              <a:latin typeface="Arial"/>
              <a:ea typeface="Arial"/>
              <a:cs typeface="Arial"/>
              <a:sym typeface="Arial"/>
            </a:endParaRPr>
          </a:p>
          <a:p>
            <a:pPr>
              <a:lnSpc>
                <a:spcPct val="90000"/>
              </a:lnSpc>
            </a:pPr>
            <a:r>
              <a:rPr lang="en-US" sz="1650" dirty="0"/>
              <a:t>John Anderson Acosta</a:t>
            </a:r>
            <a:endParaRPr lang="en-US" sz="1650" i="0" u="none" strike="noStrike" cap="none" dirty="0">
              <a:solidFill>
                <a:srgbClr val="000000"/>
              </a:solidFill>
              <a:latin typeface="Arial"/>
              <a:ea typeface="Arial"/>
              <a:cs typeface="Arial"/>
            </a:endParaRPr>
          </a:p>
          <a:p>
            <a:pPr>
              <a:lnSpc>
                <a:spcPct val="90000"/>
              </a:lnSpc>
            </a:pPr>
            <a:endParaRPr lang="en-US" sz="1650" baseline="30000" dirty="0"/>
          </a:p>
        </p:txBody>
      </p:sp>
      <p:sp>
        <p:nvSpPr>
          <p:cNvPr id="3" name="CuadroTexto 2">
            <a:extLst>
              <a:ext uri="{FF2B5EF4-FFF2-40B4-BE49-F238E27FC236}">
                <a16:creationId xmlns:a16="http://schemas.microsoft.com/office/drawing/2014/main" id="{3FA9A98C-F2F7-4581-B396-065BD5B4537A}"/>
              </a:ext>
            </a:extLst>
          </p:cNvPr>
          <p:cNvSpPr txBox="1"/>
          <p:nvPr/>
        </p:nvSpPr>
        <p:spPr>
          <a:xfrm>
            <a:off x="8794849" y="1161495"/>
            <a:ext cx="3288360" cy="477054"/>
          </a:xfrm>
          <a:prstGeom prst="rect">
            <a:avLst/>
          </a:prstGeom>
          <a:noFill/>
        </p:spPr>
        <p:txBody>
          <a:bodyPr wrap="square" lIns="91440" tIns="45720" rIns="91440" bIns="45720" rtlCol="0" anchor="t">
            <a:spAutoFit/>
          </a:bodyPr>
          <a:lstStyle/>
          <a:p>
            <a:r>
              <a:rPr lang="es-CO" sz="1100" b="1" i="1" dirty="0" err="1">
                <a:latin typeface="+mj-lt"/>
              </a:rPr>
              <a:t>Published</a:t>
            </a:r>
            <a:r>
              <a:rPr lang="es-CO" sz="1100" b="1" i="1" dirty="0">
                <a:latin typeface="+mj-lt"/>
              </a:rPr>
              <a:t>: </a:t>
            </a:r>
            <a:r>
              <a:rPr lang="es-CO" sz="1100" b="1" i="1" dirty="0" err="1">
                <a:latin typeface="+mj-lt"/>
              </a:rPr>
              <a:t>February</a:t>
            </a:r>
            <a:r>
              <a:rPr lang="es-CO" sz="1100" b="1" i="1" dirty="0">
                <a:latin typeface="+mj-lt"/>
              </a:rPr>
              <a:t> 12, 2024  </a:t>
            </a:r>
            <a:r>
              <a:rPr lang="es-CO" sz="1400" b="0" i="0" u="none" strike="noStrike" dirty="0">
                <a:solidFill>
                  <a:srgbClr val="0272B1"/>
                </a:solidFill>
                <a:effectLst/>
                <a:latin typeface="ElsevierSans"/>
                <a:hlinkClick r:id="rId4" tooltip="Persistent link using digital object identifier"/>
              </a:rPr>
              <a:t>https://doi.org/10.1016/j.jaci.2024.02.023</a:t>
            </a:r>
            <a:endParaRPr lang="en-US" sz="1100" i="1" dirty="0">
              <a:solidFill>
                <a:schemeClr val="tx1"/>
              </a:solidFill>
              <a:latin typeface="+mn-lt"/>
            </a:endParaRPr>
          </a:p>
        </p:txBody>
      </p:sp>
      <p:sp>
        <p:nvSpPr>
          <p:cNvPr id="2" name="Rectangle 1">
            <a:extLst>
              <a:ext uri="{FF2B5EF4-FFF2-40B4-BE49-F238E27FC236}">
                <a16:creationId xmlns:a16="http://schemas.microsoft.com/office/drawing/2014/main" id="{24DEAA03-0EA8-EE9A-D33C-65325F2CE2C5}"/>
              </a:ext>
            </a:extLst>
          </p:cNvPr>
          <p:cNvSpPr>
            <a:spLocks noChangeArrowheads="1"/>
          </p:cNvSpPr>
          <p:nvPr/>
        </p:nvSpPr>
        <p:spPr bwMode="auto">
          <a:xfrm>
            <a:off x="-1448768" y="-19418"/>
            <a:ext cx="46488"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200" b="1" i="0" u="none" strike="noStrike" cap="none" normalizeH="0" baseline="0" dirty="0">
                <a:ln>
                  <a:noFill/>
                </a:ln>
                <a:solidFill>
                  <a:schemeClr val="tx1"/>
                </a:solidFill>
                <a:effectLst/>
                <a:latin typeface="Source Sans Pro" panose="020B0503030403020204" pitchFamily="34" charset="0"/>
              </a:rPr>
              <a:t>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E92A41A2-A8D4-B961-C372-50818684009D}"/>
              </a:ext>
            </a:extLst>
          </p:cNvPr>
          <p:cNvPicPr>
            <a:picLocks noChangeAspect="1"/>
          </p:cNvPicPr>
          <p:nvPr/>
        </p:nvPicPr>
        <p:blipFill>
          <a:blip r:embed="rId5"/>
          <a:stretch>
            <a:fillRect/>
          </a:stretch>
        </p:blipFill>
        <p:spPr>
          <a:xfrm>
            <a:off x="8453677" y="66024"/>
            <a:ext cx="3629532" cy="9716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8" name="Rectángulo 10">
            <a:extLst>
              <a:ext uri="{FF2B5EF4-FFF2-40B4-BE49-F238E27FC236}">
                <a16:creationId xmlns:a16="http://schemas.microsoft.com/office/drawing/2014/main" id="{8A828327-C3B8-F292-0BA9-A4E95C08E73D}"/>
              </a:ext>
            </a:extLst>
          </p:cNvPr>
          <p:cNvSpPr/>
          <p:nvPr/>
        </p:nvSpPr>
        <p:spPr>
          <a:xfrm>
            <a:off x="6307381" y="4243834"/>
            <a:ext cx="4348112" cy="185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ángulo 10">
            <a:extLst>
              <a:ext uri="{FF2B5EF4-FFF2-40B4-BE49-F238E27FC236}">
                <a16:creationId xmlns:a16="http://schemas.microsoft.com/office/drawing/2014/main" id="{77288965-427C-6586-5894-6679082C2D08}"/>
              </a:ext>
            </a:extLst>
          </p:cNvPr>
          <p:cNvSpPr/>
          <p:nvPr/>
        </p:nvSpPr>
        <p:spPr>
          <a:xfrm>
            <a:off x="1788894" y="1788459"/>
            <a:ext cx="4348112" cy="43511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Google Shape;100;p2"/>
          <p:cNvSpPr txBox="1">
            <a:spLocks noGrp="1"/>
          </p:cNvSpPr>
          <p:nvPr>
            <p:ph type="title"/>
          </p:nvPr>
        </p:nvSpPr>
        <p:spPr>
          <a:xfrm>
            <a:off x="2127245" y="547320"/>
            <a:ext cx="5118553" cy="69640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000"/>
              <a:buFont typeface="Lora"/>
              <a:buNone/>
            </a:pPr>
            <a:r>
              <a:rPr lang="en-US" sz="3200" dirty="0" err="1"/>
              <a:t>Qiaozhi</a:t>
            </a:r>
            <a:r>
              <a:rPr lang="en-US" sz="3200" dirty="0"/>
              <a:t> Zhang</a:t>
            </a:r>
          </a:p>
        </p:txBody>
      </p:sp>
      <p:pic>
        <p:nvPicPr>
          <p:cNvPr id="7" name="Gráfico 20" descr="Hombre científico contorno">
            <a:extLst>
              <a:ext uri="{FF2B5EF4-FFF2-40B4-BE49-F238E27FC236}">
                <a16:creationId xmlns:a16="http://schemas.microsoft.com/office/drawing/2014/main" id="{367B72A3-5DEE-1690-691C-9335B90104F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45501" y="624849"/>
            <a:ext cx="457200" cy="457200"/>
          </a:xfrm>
          <a:prstGeom prst="rect">
            <a:avLst/>
          </a:prstGeom>
        </p:spPr>
      </p:pic>
      <p:sp>
        <p:nvSpPr>
          <p:cNvPr id="4" name="CuadroTexto 3">
            <a:extLst>
              <a:ext uri="{FF2B5EF4-FFF2-40B4-BE49-F238E27FC236}">
                <a16:creationId xmlns:a16="http://schemas.microsoft.com/office/drawing/2014/main" id="{4A19E23D-BF70-7BB0-4420-3C1483457BA7}"/>
              </a:ext>
            </a:extLst>
          </p:cNvPr>
          <p:cNvSpPr txBox="1"/>
          <p:nvPr/>
        </p:nvSpPr>
        <p:spPr>
          <a:xfrm>
            <a:off x="5460475" y="1374955"/>
            <a:ext cx="5616057" cy="1200329"/>
          </a:xfrm>
          <a:prstGeom prst="rect">
            <a:avLst/>
          </a:prstGeom>
          <a:noFill/>
        </p:spPr>
        <p:txBody>
          <a:bodyPr wrap="square">
            <a:spAutoFit/>
          </a:bodyPr>
          <a:lstStyle/>
          <a:p>
            <a:r>
              <a:rPr lang="en-US" sz="1800" b="0" i="0" u="none" strike="noStrike" dirty="0">
                <a:solidFill>
                  <a:srgbClr val="000000"/>
                </a:solidFill>
                <a:effectLst/>
                <a:latin typeface="+mn-lt"/>
              </a:rPr>
              <a:t>Graduated from the </a:t>
            </a:r>
            <a:r>
              <a:rPr lang="es-CO" sz="1800" b="1" i="0" dirty="0">
                <a:solidFill>
                  <a:srgbClr val="767676"/>
                </a:solidFill>
                <a:effectLst/>
                <a:latin typeface="Arial" panose="020B0604020202020204" pitchFamily="34" charset="0"/>
              </a:rPr>
              <a:t> </a:t>
            </a:r>
            <a:r>
              <a:rPr lang="es-CO" sz="1800" b="1" i="0" dirty="0" err="1">
                <a:solidFill>
                  <a:schemeClr val="tx1"/>
                </a:solidFill>
                <a:effectLst/>
                <a:latin typeface="Arial" panose="020B0604020202020204" pitchFamily="34" charset="0"/>
              </a:rPr>
              <a:t>Department</a:t>
            </a:r>
            <a:r>
              <a:rPr lang="es-CO" sz="1800" b="1" i="0" dirty="0">
                <a:solidFill>
                  <a:schemeClr val="tx1"/>
                </a:solidFill>
                <a:effectLst/>
                <a:latin typeface="Arial" panose="020B0604020202020204" pitchFamily="34" charset="0"/>
              </a:rPr>
              <a:t> </a:t>
            </a:r>
            <a:r>
              <a:rPr lang="es-CO" sz="1800" b="1" i="0" dirty="0" err="1">
                <a:solidFill>
                  <a:schemeClr val="tx1"/>
                </a:solidFill>
                <a:effectLst/>
                <a:latin typeface="Arial" panose="020B0604020202020204" pitchFamily="34" charset="0"/>
              </a:rPr>
              <a:t>of</a:t>
            </a:r>
            <a:r>
              <a:rPr lang="es-CO" sz="1800" b="1" i="0" dirty="0">
                <a:solidFill>
                  <a:schemeClr val="tx1"/>
                </a:solidFill>
                <a:effectLst/>
                <a:latin typeface="Arial" panose="020B0604020202020204" pitchFamily="34" charset="0"/>
              </a:rPr>
              <a:t> </a:t>
            </a:r>
            <a:r>
              <a:rPr lang="es-CO" sz="1800" b="1" i="0" dirty="0" err="1">
                <a:solidFill>
                  <a:schemeClr val="tx1"/>
                </a:solidFill>
                <a:effectLst/>
                <a:latin typeface="Arial" panose="020B0604020202020204" pitchFamily="34" charset="0"/>
              </a:rPr>
              <a:t>Biomedical</a:t>
            </a:r>
            <a:r>
              <a:rPr lang="es-CO" sz="1800" b="1" i="0" dirty="0">
                <a:solidFill>
                  <a:schemeClr val="tx1"/>
                </a:solidFill>
                <a:effectLst/>
                <a:latin typeface="Arial" panose="020B0604020202020204" pitchFamily="34" charset="0"/>
              </a:rPr>
              <a:t> </a:t>
            </a:r>
            <a:r>
              <a:rPr lang="es-CO" sz="1800" b="1" i="0" dirty="0" err="1">
                <a:solidFill>
                  <a:schemeClr val="tx1"/>
                </a:solidFill>
                <a:effectLst/>
                <a:latin typeface="Arial" panose="020B0604020202020204" pitchFamily="34" charset="0"/>
              </a:rPr>
              <a:t>Engineering</a:t>
            </a:r>
            <a:r>
              <a:rPr lang="en-US" sz="1800" b="1" i="0" u="none" strike="noStrike" dirty="0">
                <a:solidFill>
                  <a:srgbClr val="000000"/>
                </a:solidFill>
                <a:effectLst/>
                <a:latin typeface="+mn-lt"/>
              </a:rPr>
              <a:t> </a:t>
            </a:r>
            <a:r>
              <a:rPr lang="en-US" sz="1800" b="0" i="0" u="none" strike="noStrike" dirty="0">
                <a:solidFill>
                  <a:srgbClr val="000000"/>
                </a:solidFill>
                <a:effectLst/>
                <a:latin typeface="+mn-lt"/>
              </a:rPr>
              <a:t>at </a:t>
            </a:r>
            <a:r>
              <a:rPr lang="en-US" sz="1800" i="0" u="none" strike="noStrike" dirty="0">
                <a:solidFill>
                  <a:srgbClr val="000000"/>
                </a:solidFill>
                <a:effectLst/>
                <a:latin typeface="+mn-lt"/>
              </a:rPr>
              <a:t>Zhejiang </a:t>
            </a:r>
            <a:r>
              <a:rPr lang="en-US" sz="1800" i="0" u="none" strike="noStrike" dirty="0" err="1">
                <a:solidFill>
                  <a:srgbClr val="000000"/>
                </a:solidFill>
                <a:effectLst/>
                <a:latin typeface="+mn-lt"/>
              </a:rPr>
              <a:t>Gongshang</a:t>
            </a:r>
            <a:r>
              <a:rPr lang="en-US" sz="1800" i="0" u="none" strike="noStrike" dirty="0">
                <a:solidFill>
                  <a:srgbClr val="000000"/>
                </a:solidFill>
                <a:effectLst/>
                <a:latin typeface="+mn-lt"/>
              </a:rPr>
              <a:t> University in 2012, </a:t>
            </a:r>
            <a:r>
              <a:rPr lang="en-US" sz="1800" b="0" i="0" u="none" strike="noStrike" cap="none" dirty="0">
                <a:solidFill>
                  <a:srgbClr val="000000"/>
                </a:solidFill>
                <a:latin typeface="Arial"/>
                <a:ea typeface="Arial"/>
                <a:cs typeface="Arial"/>
                <a:sym typeface="Arial"/>
              </a:rPr>
              <a:t>Hangzhou, China</a:t>
            </a:r>
          </a:p>
          <a:p>
            <a:endParaRPr lang="es-CO" sz="1800" dirty="0">
              <a:latin typeface="+mn-lt"/>
            </a:endParaRPr>
          </a:p>
        </p:txBody>
      </p:sp>
      <p:sp>
        <p:nvSpPr>
          <p:cNvPr id="5" name="CuadroTexto 4">
            <a:extLst>
              <a:ext uri="{FF2B5EF4-FFF2-40B4-BE49-F238E27FC236}">
                <a16:creationId xmlns:a16="http://schemas.microsoft.com/office/drawing/2014/main" id="{0DF7554A-2571-9911-4CD3-848F80185028}"/>
              </a:ext>
            </a:extLst>
          </p:cNvPr>
          <p:cNvSpPr txBox="1"/>
          <p:nvPr/>
        </p:nvSpPr>
        <p:spPr>
          <a:xfrm>
            <a:off x="5460474" y="2436800"/>
            <a:ext cx="5616057" cy="923330"/>
          </a:xfrm>
          <a:prstGeom prst="rect">
            <a:avLst/>
          </a:prstGeom>
          <a:noFill/>
        </p:spPr>
        <p:txBody>
          <a:bodyPr wrap="square">
            <a:spAutoFit/>
          </a:bodyPr>
          <a:lstStyle/>
          <a:p>
            <a:r>
              <a:rPr lang="en-US" sz="1800" dirty="0"/>
              <a:t>Graduate Research Assistant in Optical-Bio Microsystems Lab </a:t>
            </a:r>
            <a:r>
              <a:rPr lang="en-US" sz="1800" b="0" i="0" u="none" strike="noStrike" dirty="0">
                <a:solidFill>
                  <a:srgbClr val="000000"/>
                </a:solidFill>
                <a:effectLst/>
                <a:latin typeface="+mn-lt"/>
              </a:rPr>
              <a:t>at </a:t>
            </a:r>
            <a:r>
              <a:rPr lang="en-US" sz="1800" b="1" i="0" u="none" strike="noStrike" dirty="0">
                <a:solidFill>
                  <a:srgbClr val="000000"/>
                </a:solidFill>
                <a:effectLst/>
                <a:latin typeface="+mn-lt"/>
              </a:rPr>
              <a:t>Concordia University </a:t>
            </a:r>
            <a:r>
              <a:rPr lang="en-US" sz="1800" i="0" u="none" strike="noStrike" dirty="0">
                <a:solidFill>
                  <a:srgbClr val="000000"/>
                </a:solidFill>
                <a:effectLst/>
                <a:latin typeface="+mn-lt"/>
              </a:rPr>
              <a:t>in 2018, </a:t>
            </a:r>
            <a:r>
              <a:rPr lang="en-US" sz="1800" i="0" u="none" strike="noStrike" dirty="0">
                <a:solidFill>
                  <a:srgbClr val="000000"/>
                </a:solidFill>
                <a:latin typeface="+mn-lt"/>
              </a:rPr>
              <a:t>Mont</a:t>
            </a:r>
            <a:r>
              <a:rPr lang="en-US" sz="1800" dirty="0">
                <a:latin typeface="+mn-lt"/>
              </a:rPr>
              <a:t>real</a:t>
            </a:r>
            <a:r>
              <a:rPr lang="en-US" sz="1800" b="0" i="0" u="none" strike="noStrike" cap="none" dirty="0">
                <a:solidFill>
                  <a:srgbClr val="000000"/>
                </a:solidFill>
                <a:latin typeface="Arial"/>
                <a:ea typeface="Arial"/>
                <a:cs typeface="Arial"/>
                <a:sym typeface="Arial"/>
              </a:rPr>
              <a:t>, Canada</a:t>
            </a:r>
            <a:endParaRPr lang="es-CO" sz="1800" dirty="0">
              <a:latin typeface="+mn-lt"/>
            </a:endParaRPr>
          </a:p>
        </p:txBody>
      </p:sp>
      <p:sp>
        <p:nvSpPr>
          <p:cNvPr id="6" name="CuadroTexto 5">
            <a:extLst>
              <a:ext uri="{FF2B5EF4-FFF2-40B4-BE49-F238E27FC236}">
                <a16:creationId xmlns:a16="http://schemas.microsoft.com/office/drawing/2014/main" id="{D1519766-1099-7B61-9D25-6DB62FEB64AA}"/>
              </a:ext>
            </a:extLst>
          </p:cNvPr>
          <p:cNvSpPr txBox="1"/>
          <p:nvPr/>
        </p:nvSpPr>
        <p:spPr>
          <a:xfrm>
            <a:off x="5460474" y="3497871"/>
            <a:ext cx="5616057" cy="646331"/>
          </a:xfrm>
          <a:prstGeom prst="rect">
            <a:avLst/>
          </a:prstGeom>
          <a:noFill/>
        </p:spPr>
        <p:txBody>
          <a:bodyPr wrap="square">
            <a:spAutoFit/>
          </a:bodyPr>
          <a:lstStyle/>
          <a:p>
            <a:r>
              <a:rPr lang="en-US" sz="1800" dirty="0"/>
              <a:t>Earned a Ph. D in </a:t>
            </a:r>
            <a:r>
              <a:rPr lang="en-US" sz="1800" b="1" dirty="0"/>
              <a:t>Biomedical Engineering </a:t>
            </a:r>
            <a:r>
              <a:rPr lang="en-US" sz="1800" dirty="0"/>
              <a:t>from Zhejiang University, </a:t>
            </a:r>
            <a:r>
              <a:rPr lang="en-US" sz="1800" b="0" i="0" u="none" strike="noStrike" cap="none" dirty="0">
                <a:solidFill>
                  <a:srgbClr val="000000"/>
                </a:solidFill>
                <a:latin typeface="Arial"/>
                <a:ea typeface="Arial"/>
                <a:cs typeface="Arial"/>
                <a:sym typeface="Arial"/>
              </a:rPr>
              <a:t>Hangzhou, China</a:t>
            </a:r>
            <a:endParaRPr lang="es-CO" sz="1800" dirty="0">
              <a:latin typeface="+mn-lt"/>
            </a:endParaRPr>
          </a:p>
        </p:txBody>
      </p:sp>
      <p:sp>
        <p:nvSpPr>
          <p:cNvPr id="8" name="CuadroTexto 7">
            <a:extLst>
              <a:ext uri="{FF2B5EF4-FFF2-40B4-BE49-F238E27FC236}">
                <a16:creationId xmlns:a16="http://schemas.microsoft.com/office/drawing/2014/main" id="{023549AB-7855-6D5F-CBFC-B94BA2F9CAF5}"/>
              </a:ext>
            </a:extLst>
          </p:cNvPr>
          <p:cNvSpPr txBox="1"/>
          <p:nvPr/>
        </p:nvSpPr>
        <p:spPr>
          <a:xfrm>
            <a:off x="5460473" y="4296686"/>
            <a:ext cx="5616057" cy="1200329"/>
          </a:xfrm>
          <a:prstGeom prst="rect">
            <a:avLst/>
          </a:prstGeom>
          <a:noFill/>
        </p:spPr>
        <p:txBody>
          <a:bodyPr wrap="square">
            <a:spAutoFit/>
          </a:bodyPr>
          <a:lstStyle/>
          <a:p>
            <a:r>
              <a:rPr lang="en-US" sz="1800" dirty="0"/>
              <a:t>Currently, He is a Postdoctoral Fellow at </a:t>
            </a:r>
            <a:r>
              <a:rPr lang="en-US" sz="1800" b="1" dirty="0"/>
              <a:t>Peking University </a:t>
            </a:r>
            <a:r>
              <a:rPr lang="en-US" sz="1800" dirty="0"/>
              <a:t>in Biomaterials, 3D (bio)printing, Tissue Engineering, Microscopy, Biotherapeutics and Metabolomics</a:t>
            </a:r>
            <a:endParaRPr lang="es-CO" sz="1800" dirty="0">
              <a:latin typeface="+mn-lt"/>
            </a:endParaRPr>
          </a:p>
        </p:txBody>
      </p:sp>
      <p:pic>
        <p:nvPicPr>
          <p:cNvPr id="2050" name="Picture 2">
            <a:extLst>
              <a:ext uri="{FF2B5EF4-FFF2-40B4-BE49-F238E27FC236}">
                <a16:creationId xmlns:a16="http://schemas.microsoft.com/office/drawing/2014/main" id="{ED107DE4-B9C7-E0A9-AA39-6885531253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7857" y="1393811"/>
            <a:ext cx="3259899" cy="434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414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title"/>
          </p:nvPr>
        </p:nvSpPr>
        <p:spPr>
          <a:xfrm>
            <a:off x="2127245" y="547320"/>
            <a:ext cx="2456787" cy="69640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000"/>
              <a:buFont typeface="Lora"/>
              <a:buNone/>
            </a:pPr>
            <a:r>
              <a:rPr lang="en-US" sz="4400" dirty="0"/>
              <a:t>Projects</a:t>
            </a:r>
            <a:endParaRPr lang="en-US" sz="3200" dirty="0"/>
          </a:p>
        </p:txBody>
      </p:sp>
      <p:pic>
        <p:nvPicPr>
          <p:cNvPr id="7" name="Gráfico 20" descr="Hombre científico contorno">
            <a:extLst>
              <a:ext uri="{FF2B5EF4-FFF2-40B4-BE49-F238E27FC236}">
                <a16:creationId xmlns:a16="http://schemas.microsoft.com/office/drawing/2014/main" id="{367B72A3-5DEE-1690-691C-9335B90104F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45501" y="624849"/>
            <a:ext cx="457200" cy="457200"/>
          </a:xfrm>
          <a:prstGeom prst="rect">
            <a:avLst/>
          </a:prstGeom>
        </p:spPr>
      </p:pic>
      <p:sp>
        <p:nvSpPr>
          <p:cNvPr id="3" name="Rectángulo 10">
            <a:extLst>
              <a:ext uri="{FF2B5EF4-FFF2-40B4-BE49-F238E27FC236}">
                <a16:creationId xmlns:a16="http://schemas.microsoft.com/office/drawing/2014/main" id="{4C58FE4F-C84D-EA92-083D-A2EE758F6DB2}"/>
              </a:ext>
            </a:extLst>
          </p:cNvPr>
          <p:cNvSpPr/>
          <p:nvPr/>
        </p:nvSpPr>
        <p:spPr>
          <a:xfrm>
            <a:off x="8481728" y="3944410"/>
            <a:ext cx="2986198" cy="266752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ángulo 10">
            <a:extLst>
              <a:ext uri="{FF2B5EF4-FFF2-40B4-BE49-F238E27FC236}">
                <a16:creationId xmlns:a16="http://schemas.microsoft.com/office/drawing/2014/main" id="{E54AAA55-E7DB-B67F-37CF-53EEA00FDBCF}"/>
              </a:ext>
            </a:extLst>
          </p:cNvPr>
          <p:cNvSpPr/>
          <p:nvPr/>
        </p:nvSpPr>
        <p:spPr>
          <a:xfrm>
            <a:off x="8598684" y="4042331"/>
            <a:ext cx="2752285" cy="24969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10">
            <a:extLst>
              <a:ext uri="{FF2B5EF4-FFF2-40B4-BE49-F238E27FC236}">
                <a16:creationId xmlns:a16="http://schemas.microsoft.com/office/drawing/2014/main" id="{298402CE-83A8-430A-86B1-BFA8123DC0CC}"/>
              </a:ext>
            </a:extLst>
          </p:cNvPr>
          <p:cNvSpPr/>
          <p:nvPr/>
        </p:nvSpPr>
        <p:spPr>
          <a:xfrm>
            <a:off x="4862600" y="3944410"/>
            <a:ext cx="2986198" cy="266752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10">
            <a:extLst>
              <a:ext uri="{FF2B5EF4-FFF2-40B4-BE49-F238E27FC236}">
                <a16:creationId xmlns:a16="http://schemas.microsoft.com/office/drawing/2014/main" id="{EC2CC9AF-A951-128F-A827-0532983587A9}"/>
              </a:ext>
            </a:extLst>
          </p:cNvPr>
          <p:cNvSpPr/>
          <p:nvPr/>
        </p:nvSpPr>
        <p:spPr>
          <a:xfrm>
            <a:off x="4979556" y="4050111"/>
            <a:ext cx="2752285" cy="24969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ángulo 10">
            <a:extLst>
              <a:ext uri="{FF2B5EF4-FFF2-40B4-BE49-F238E27FC236}">
                <a16:creationId xmlns:a16="http://schemas.microsoft.com/office/drawing/2014/main" id="{07FC9B91-DB83-C5EA-9D0E-436690A2F4E0}"/>
              </a:ext>
            </a:extLst>
          </p:cNvPr>
          <p:cNvSpPr/>
          <p:nvPr/>
        </p:nvSpPr>
        <p:spPr>
          <a:xfrm>
            <a:off x="1067111" y="3964734"/>
            <a:ext cx="2752285" cy="24969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9">
            <a:extLst>
              <a:ext uri="{FF2B5EF4-FFF2-40B4-BE49-F238E27FC236}">
                <a16:creationId xmlns:a16="http://schemas.microsoft.com/office/drawing/2014/main" id="{9CDF297B-442F-37DE-6913-FD8950D6DCEC}"/>
              </a:ext>
            </a:extLst>
          </p:cNvPr>
          <p:cNvSpPr txBox="1"/>
          <p:nvPr/>
        </p:nvSpPr>
        <p:spPr>
          <a:xfrm>
            <a:off x="8529146" y="5574883"/>
            <a:ext cx="2986198" cy="954107"/>
          </a:xfrm>
          <a:prstGeom prst="rect">
            <a:avLst/>
          </a:prstGeom>
          <a:noFill/>
        </p:spPr>
        <p:txBody>
          <a:bodyPr wrap="square" rtlCol="0">
            <a:spAutoFit/>
          </a:bodyPr>
          <a:lstStyle/>
          <a:p>
            <a:pPr algn="ctr"/>
            <a:r>
              <a:rPr lang="es-CO" sz="2800" b="1" i="0" dirty="0" err="1">
                <a:solidFill>
                  <a:schemeClr val="tx1"/>
                </a:solidFill>
                <a:effectLst/>
                <a:latin typeface="+mj-lt"/>
              </a:rPr>
              <a:t>Tissue</a:t>
            </a:r>
            <a:r>
              <a:rPr lang="es-CO" sz="2800" b="1" i="0" dirty="0">
                <a:solidFill>
                  <a:schemeClr val="tx1"/>
                </a:solidFill>
                <a:effectLst/>
                <a:latin typeface="+mj-lt"/>
              </a:rPr>
              <a:t> </a:t>
            </a:r>
            <a:r>
              <a:rPr lang="es-CO" sz="2800" b="1" i="0" dirty="0" err="1">
                <a:solidFill>
                  <a:schemeClr val="tx1"/>
                </a:solidFill>
                <a:effectLst/>
                <a:latin typeface="+mj-lt"/>
              </a:rPr>
              <a:t>Engineering</a:t>
            </a:r>
            <a:endParaRPr lang="en-US" sz="2800" b="1" i="1" dirty="0">
              <a:solidFill>
                <a:schemeClr val="tx1"/>
              </a:solidFill>
              <a:latin typeface="+mj-lt"/>
            </a:endParaRPr>
          </a:p>
        </p:txBody>
      </p:sp>
      <p:sp>
        <p:nvSpPr>
          <p:cNvPr id="19" name="CuadroTexto 19">
            <a:extLst>
              <a:ext uri="{FF2B5EF4-FFF2-40B4-BE49-F238E27FC236}">
                <a16:creationId xmlns:a16="http://schemas.microsoft.com/office/drawing/2014/main" id="{093FC4D7-F636-CF64-7BAE-74E42D6B7FA2}"/>
              </a:ext>
            </a:extLst>
          </p:cNvPr>
          <p:cNvSpPr txBox="1"/>
          <p:nvPr/>
        </p:nvSpPr>
        <p:spPr>
          <a:xfrm>
            <a:off x="1260272" y="5938512"/>
            <a:ext cx="2559124" cy="523220"/>
          </a:xfrm>
          <a:prstGeom prst="rect">
            <a:avLst/>
          </a:prstGeom>
          <a:noFill/>
        </p:spPr>
        <p:txBody>
          <a:bodyPr wrap="square" rtlCol="0">
            <a:spAutoFit/>
          </a:bodyPr>
          <a:lstStyle/>
          <a:p>
            <a:pPr algn="ctr"/>
            <a:r>
              <a:rPr lang="es-CO" sz="2800" b="1" i="0" dirty="0" err="1">
                <a:solidFill>
                  <a:schemeClr val="tx1"/>
                </a:solidFill>
                <a:effectLst/>
                <a:latin typeface="+mj-lt"/>
              </a:rPr>
              <a:t>Metabolomics</a:t>
            </a:r>
            <a:endParaRPr lang="en-US" sz="2800" b="1" i="1" dirty="0">
              <a:solidFill>
                <a:schemeClr val="tx1"/>
              </a:solidFill>
              <a:latin typeface="+mj-lt"/>
            </a:endParaRPr>
          </a:p>
        </p:txBody>
      </p:sp>
      <p:sp>
        <p:nvSpPr>
          <p:cNvPr id="20" name="CuadroTexto 19">
            <a:extLst>
              <a:ext uri="{FF2B5EF4-FFF2-40B4-BE49-F238E27FC236}">
                <a16:creationId xmlns:a16="http://schemas.microsoft.com/office/drawing/2014/main" id="{F79FA118-CA87-8B91-F47C-C39BE5E93D67}"/>
              </a:ext>
            </a:extLst>
          </p:cNvPr>
          <p:cNvSpPr txBox="1"/>
          <p:nvPr/>
        </p:nvSpPr>
        <p:spPr>
          <a:xfrm>
            <a:off x="5114917" y="5970722"/>
            <a:ext cx="2481562" cy="523220"/>
          </a:xfrm>
          <a:prstGeom prst="rect">
            <a:avLst/>
          </a:prstGeom>
          <a:noFill/>
        </p:spPr>
        <p:txBody>
          <a:bodyPr wrap="square" rtlCol="0">
            <a:spAutoFit/>
          </a:bodyPr>
          <a:lstStyle/>
          <a:p>
            <a:pPr algn="ctr"/>
            <a:r>
              <a:rPr lang="es-CO" sz="2800" b="1" i="0" dirty="0" err="1">
                <a:solidFill>
                  <a:schemeClr val="tx1"/>
                </a:solidFill>
                <a:effectLst/>
                <a:latin typeface="+mj-lt"/>
              </a:rPr>
              <a:t>Biomaterials</a:t>
            </a:r>
            <a:endParaRPr lang="en-US" sz="2800" b="1" i="1" dirty="0">
              <a:solidFill>
                <a:schemeClr val="tx1"/>
              </a:solidFill>
              <a:latin typeface="+mj-lt"/>
            </a:endParaRPr>
          </a:p>
        </p:txBody>
      </p:sp>
      <p:sp>
        <p:nvSpPr>
          <p:cNvPr id="10" name="Rectángulo 10">
            <a:extLst>
              <a:ext uri="{FF2B5EF4-FFF2-40B4-BE49-F238E27FC236}">
                <a16:creationId xmlns:a16="http://schemas.microsoft.com/office/drawing/2014/main" id="{95D6406C-B726-7EFD-1751-C066984A8F00}"/>
              </a:ext>
            </a:extLst>
          </p:cNvPr>
          <p:cNvSpPr/>
          <p:nvPr/>
        </p:nvSpPr>
        <p:spPr>
          <a:xfrm>
            <a:off x="1067111" y="4042330"/>
            <a:ext cx="2986198" cy="2504779"/>
          </a:xfrm>
          <a:prstGeom prst="rect">
            <a:avLst/>
          </a:prstGeom>
          <a:noFill/>
          <a:ln w="1270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n 13">
            <a:extLst>
              <a:ext uri="{FF2B5EF4-FFF2-40B4-BE49-F238E27FC236}">
                <a16:creationId xmlns:a16="http://schemas.microsoft.com/office/drawing/2014/main" id="{F9910203-AA71-8481-14CF-17C603D488BE}"/>
              </a:ext>
            </a:extLst>
          </p:cNvPr>
          <p:cNvPicPr>
            <a:picLocks noChangeAspect="1"/>
          </p:cNvPicPr>
          <p:nvPr/>
        </p:nvPicPr>
        <p:blipFill>
          <a:blip r:embed="rId5"/>
          <a:stretch>
            <a:fillRect/>
          </a:stretch>
        </p:blipFill>
        <p:spPr>
          <a:xfrm>
            <a:off x="5231872" y="4321469"/>
            <a:ext cx="1303263" cy="1176279"/>
          </a:xfrm>
          <a:prstGeom prst="ellipse">
            <a:avLst/>
          </a:prstGeom>
          <a:ln w="19050">
            <a:solidFill>
              <a:schemeClr val="tx1"/>
            </a:solidFill>
          </a:ln>
        </p:spPr>
      </p:pic>
      <p:pic>
        <p:nvPicPr>
          <p:cNvPr id="17" name="Imagen 16">
            <a:extLst>
              <a:ext uri="{FF2B5EF4-FFF2-40B4-BE49-F238E27FC236}">
                <a16:creationId xmlns:a16="http://schemas.microsoft.com/office/drawing/2014/main" id="{E903315F-98A2-C8C9-8125-090D8A1FE659}"/>
              </a:ext>
            </a:extLst>
          </p:cNvPr>
          <p:cNvPicPr>
            <a:picLocks noChangeAspect="1"/>
          </p:cNvPicPr>
          <p:nvPr/>
        </p:nvPicPr>
        <p:blipFill>
          <a:blip r:embed="rId6"/>
          <a:stretch>
            <a:fillRect/>
          </a:stretch>
        </p:blipFill>
        <p:spPr>
          <a:xfrm rot="5840547">
            <a:off x="6341293" y="4557191"/>
            <a:ext cx="1380899" cy="704834"/>
          </a:xfrm>
          <a:prstGeom prst="ellipse">
            <a:avLst/>
          </a:prstGeom>
          <a:ln w="0">
            <a:solidFill>
              <a:schemeClr val="tx1"/>
            </a:solidFill>
          </a:ln>
        </p:spPr>
      </p:pic>
      <p:pic>
        <p:nvPicPr>
          <p:cNvPr id="24" name="Imagen 23">
            <a:extLst>
              <a:ext uri="{FF2B5EF4-FFF2-40B4-BE49-F238E27FC236}">
                <a16:creationId xmlns:a16="http://schemas.microsoft.com/office/drawing/2014/main" id="{AEFD28B0-85F6-DB59-D37F-2A2B98BA9CA1}"/>
              </a:ext>
            </a:extLst>
          </p:cNvPr>
          <p:cNvPicPr>
            <a:picLocks noChangeAspect="1"/>
          </p:cNvPicPr>
          <p:nvPr/>
        </p:nvPicPr>
        <p:blipFill>
          <a:blip r:embed="rId7"/>
          <a:stretch>
            <a:fillRect/>
          </a:stretch>
        </p:blipFill>
        <p:spPr>
          <a:xfrm>
            <a:off x="9501948" y="4231472"/>
            <a:ext cx="1196403" cy="1407963"/>
          </a:xfrm>
          <a:prstGeom prst="flowChartConnector">
            <a:avLst/>
          </a:prstGeom>
        </p:spPr>
      </p:pic>
      <p:pic>
        <p:nvPicPr>
          <p:cNvPr id="2" name="Picture 4" descr="Profile picture">
            <a:extLst>
              <a:ext uri="{FF2B5EF4-FFF2-40B4-BE49-F238E27FC236}">
                <a16:creationId xmlns:a16="http://schemas.microsoft.com/office/drawing/2014/main" id="{7974D3BC-BE62-5C7E-31A4-BA1A5CE269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7111" y="1432187"/>
            <a:ext cx="2165624" cy="2165624"/>
          </a:xfrm>
          <a:prstGeom prst="ellipse">
            <a:avLst/>
          </a:prstGeom>
          <a:noFill/>
          <a:extLst>
            <a:ext uri="{909E8E84-426E-40DD-AFC4-6F175D3DCCD1}">
              <a14:hiddenFill xmlns:a14="http://schemas.microsoft.com/office/drawing/2010/main">
                <a:solidFill>
                  <a:srgbClr val="FFFFFF"/>
                </a:solidFill>
              </a14:hiddenFill>
            </a:ext>
          </a:extLst>
        </p:spPr>
      </p:pic>
      <p:pic>
        <p:nvPicPr>
          <p:cNvPr id="21" name="Imagen 20">
            <a:extLst>
              <a:ext uri="{FF2B5EF4-FFF2-40B4-BE49-F238E27FC236}">
                <a16:creationId xmlns:a16="http://schemas.microsoft.com/office/drawing/2014/main" id="{7BA31F0D-ED3A-3735-E5FC-9158BC2CDA01}"/>
              </a:ext>
            </a:extLst>
          </p:cNvPr>
          <p:cNvPicPr>
            <a:picLocks noChangeAspect="1"/>
          </p:cNvPicPr>
          <p:nvPr/>
        </p:nvPicPr>
        <p:blipFill>
          <a:blip r:embed="rId9"/>
          <a:stretch>
            <a:fillRect/>
          </a:stretch>
        </p:blipFill>
        <p:spPr>
          <a:xfrm>
            <a:off x="1414781" y="4309374"/>
            <a:ext cx="2275367" cy="1707839"/>
          </a:xfrm>
          <a:prstGeom prst="ellipse">
            <a:avLst/>
          </a:prstGeom>
        </p:spPr>
      </p:pic>
      <p:pic>
        <p:nvPicPr>
          <p:cNvPr id="23" name="Imagen 22">
            <a:extLst>
              <a:ext uri="{FF2B5EF4-FFF2-40B4-BE49-F238E27FC236}">
                <a16:creationId xmlns:a16="http://schemas.microsoft.com/office/drawing/2014/main" id="{2D63EBAA-4208-6FCF-6C99-3DF65F155FF4}"/>
              </a:ext>
            </a:extLst>
          </p:cNvPr>
          <p:cNvPicPr>
            <a:picLocks noChangeAspect="1"/>
          </p:cNvPicPr>
          <p:nvPr/>
        </p:nvPicPr>
        <p:blipFill>
          <a:blip r:embed="rId10"/>
          <a:stretch>
            <a:fillRect/>
          </a:stretch>
        </p:blipFill>
        <p:spPr>
          <a:xfrm>
            <a:off x="3475628" y="1506650"/>
            <a:ext cx="8512425" cy="1688644"/>
          </a:xfrm>
          <a:prstGeom prst="rect">
            <a:avLst/>
          </a:prstGeom>
          <a:ln>
            <a:solidFill>
              <a:schemeClr val="tx1"/>
            </a:solidFill>
          </a:ln>
        </p:spPr>
      </p:pic>
    </p:spTree>
    <p:extLst>
      <p:ext uri="{BB962C8B-B14F-4D97-AF65-F5344CB8AC3E}">
        <p14:creationId xmlns:p14="http://schemas.microsoft.com/office/powerpoint/2010/main" val="538710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
          <p:cNvSpPr txBox="1">
            <a:spLocks noGrp="1"/>
          </p:cNvSpPr>
          <p:nvPr>
            <p:ph type="title"/>
          </p:nvPr>
        </p:nvSpPr>
        <p:spPr>
          <a:xfrm>
            <a:off x="2127245" y="547320"/>
            <a:ext cx="4060492" cy="69640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000"/>
              <a:buFont typeface="Lora"/>
              <a:buNone/>
            </a:pPr>
            <a:r>
              <a:rPr lang="en-US" sz="4400" dirty="0"/>
              <a:t>Introduction</a:t>
            </a:r>
            <a:endParaRPr lang="en-US" sz="3200" dirty="0"/>
          </a:p>
        </p:txBody>
      </p:sp>
      <p:sp>
        <p:nvSpPr>
          <p:cNvPr id="112" name="Google Shape;112;p2"/>
          <p:cNvSpPr txBox="1">
            <a:spLocks noGrp="1"/>
          </p:cNvSpPr>
          <p:nvPr>
            <p:ph type="sldNum" idx="12"/>
          </p:nvPr>
        </p:nvSpPr>
        <p:spPr>
          <a:xfrm>
            <a:off x="11390969" y="6333135"/>
            <a:ext cx="731600" cy="5248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4</a:t>
            </a:fld>
            <a:endParaRPr/>
          </a:p>
        </p:txBody>
      </p:sp>
      <p:pic>
        <p:nvPicPr>
          <p:cNvPr id="5" name="Gráfico 4" descr="Libro abierto contorno">
            <a:extLst>
              <a:ext uri="{FF2B5EF4-FFF2-40B4-BE49-F238E27FC236}">
                <a16:creationId xmlns:a16="http://schemas.microsoft.com/office/drawing/2014/main" id="{28D7F757-6C64-40FF-9529-EE4BB1C535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1766" y="666924"/>
            <a:ext cx="457200" cy="457200"/>
          </a:xfrm>
          <a:prstGeom prst="rect">
            <a:avLst/>
          </a:prstGeom>
        </p:spPr>
      </p:pic>
      <p:sp>
        <p:nvSpPr>
          <p:cNvPr id="3" name="Rectángulo 2">
            <a:extLst>
              <a:ext uri="{FF2B5EF4-FFF2-40B4-BE49-F238E27FC236}">
                <a16:creationId xmlns:a16="http://schemas.microsoft.com/office/drawing/2014/main" id="{1BC7E5BF-AA01-48E0-A51E-72C2ADCDC6CE}"/>
              </a:ext>
            </a:extLst>
          </p:cNvPr>
          <p:cNvSpPr/>
          <p:nvPr/>
        </p:nvSpPr>
        <p:spPr>
          <a:xfrm>
            <a:off x="524107" y="1427357"/>
            <a:ext cx="7515921" cy="5285678"/>
          </a:xfrm>
          <a:prstGeom prst="rect">
            <a:avLst/>
          </a:prstGeom>
          <a:noFill/>
          <a:ln w="57150">
            <a:solidFill>
              <a:srgbClr val="FFCD00"/>
            </a:solidFill>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CO"/>
          </a:p>
        </p:txBody>
      </p:sp>
      <p:sp>
        <p:nvSpPr>
          <p:cNvPr id="4" name="CuadroTexto 3">
            <a:extLst>
              <a:ext uri="{FF2B5EF4-FFF2-40B4-BE49-F238E27FC236}">
                <a16:creationId xmlns:a16="http://schemas.microsoft.com/office/drawing/2014/main" id="{7043112E-AF58-3528-D171-FB509F5B8B5A}"/>
              </a:ext>
            </a:extLst>
          </p:cNvPr>
          <p:cNvSpPr txBox="1"/>
          <p:nvPr/>
        </p:nvSpPr>
        <p:spPr>
          <a:xfrm>
            <a:off x="8633056" y="1347103"/>
            <a:ext cx="3040256" cy="954107"/>
          </a:xfrm>
          <a:prstGeom prst="rect">
            <a:avLst/>
          </a:prstGeom>
          <a:noFill/>
        </p:spPr>
        <p:txBody>
          <a:bodyPr wrap="square" rtlCol="0">
            <a:spAutoFit/>
          </a:bodyPr>
          <a:lstStyle/>
          <a:p>
            <a:pPr algn="ctr"/>
            <a:r>
              <a:rPr lang="es-CO" sz="2800" b="1" i="0" dirty="0" err="1">
                <a:solidFill>
                  <a:schemeClr val="tx1"/>
                </a:solidFill>
                <a:effectLst/>
                <a:latin typeface="+mj-lt"/>
              </a:rPr>
              <a:t>Why</a:t>
            </a:r>
            <a:r>
              <a:rPr lang="es-CO" sz="2800" b="1" i="0" dirty="0">
                <a:solidFill>
                  <a:schemeClr val="tx1"/>
                </a:solidFill>
                <a:effectLst/>
                <a:latin typeface="+mj-lt"/>
              </a:rPr>
              <a:t> </a:t>
            </a:r>
            <a:r>
              <a:rPr lang="es-CO" sz="2800" b="1" dirty="0" err="1">
                <a:solidFill>
                  <a:schemeClr val="tx1"/>
                </a:solidFill>
                <a:latin typeface="+mj-lt"/>
              </a:rPr>
              <a:t>studied</a:t>
            </a:r>
            <a:r>
              <a:rPr lang="es-CO" sz="2800" b="1" dirty="0">
                <a:solidFill>
                  <a:schemeClr val="tx1"/>
                </a:solidFill>
                <a:latin typeface="+mj-lt"/>
              </a:rPr>
              <a:t> </a:t>
            </a:r>
            <a:r>
              <a:rPr lang="es-CO" sz="2800" b="1" dirty="0" err="1">
                <a:solidFill>
                  <a:schemeClr val="tx1"/>
                </a:solidFill>
                <a:latin typeface="+mj-lt"/>
              </a:rPr>
              <a:t>this</a:t>
            </a:r>
            <a:r>
              <a:rPr lang="es-CO" sz="2800" b="1" dirty="0">
                <a:solidFill>
                  <a:schemeClr val="tx1"/>
                </a:solidFill>
                <a:latin typeface="+mj-lt"/>
              </a:rPr>
              <a:t> </a:t>
            </a:r>
            <a:r>
              <a:rPr lang="es-CO" sz="2800" b="1" dirty="0" err="1">
                <a:solidFill>
                  <a:schemeClr val="tx1"/>
                </a:solidFill>
                <a:latin typeface="+mj-lt"/>
              </a:rPr>
              <a:t>Biomarkers</a:t>
            </a:r>
            <a:r>
              <a:rPr lang="es-CO" sz="2800" b="1" i="0" dirty="0">
                <a:solidFill>
                  <a:schemeClr val="tx1"/>
                </a:solidFill>
                <a:effectLst/>
                <a:latin typeface="+mj-lt"/>
              </a:rPr>
              <a:t>??</a:t>
            </a:r>
            <a:endParaRPr lang="en-US" sz="2800" b="1" i="1" dirty="0">
              <a:solidFill>
                <a:schemeClr val="tx1"/>
              </a:solidFill>
              <a:latin typeface="+mj-lt"/>
            </a:endParaRPr>
          </a:p>
        </p:txBody>
      </p:sp>
      <p:sp>
        <p:nvSpPr>
          <p:cNvPr id="7" name="CuadroTexto 6">
            <a:extLst>
              <a:ext uri="{FF2B5EF4-FFF2-40B4-BE49-F238E27FC236}">
                <a16:creationId xmlns:a16="http://schemas.microsoft.com/office/drawing/2014/main" id="{4C946A80-CE79-E44F-6899-FCB60B0C5124}"/>
              </a:ext>
            </a:extLst>
          </p:cNvPr>
          <p:cNvSpPr txBox="1"/>
          <p:nvPr/>
        </p:nvSpPr>
        <p:spPr>
          <a:xfrm>
            <a:off x="8419170" y="2383301"/>
            <a:ext cx="3468029" cy="3785652"/>
          </a:xfrm>
          <a:prstGeom prst="rect">
            <a:avLst/>
          </a:prstGeom>
          <a:noFill/>
        </p:spPr>
        <p:txBody>
          <a:bodyPr wrap="square" rtlCol="0">
            <a:spAutoFit/>
          </a:bodyPr>
          <a:lstStyle/>
          <a:p>
            <a:pPr algn="ctr"/>
            <a:r>
              <a:rPr lang="es-MX" sz="2000" dirty="0"/>
              <a:t>Una proporción considerable de personas tolera alimentos “sospechosos” sin desarrollar síntomas alérgicos; este fenómeno se conoce como tolerancia sensibilizada. Las características inmunogénicas y metabólicas subyacentes al fenotipo de </a:t>
            </a:r>
            <a:r>
              <a:rPr lang="es-MX" sz="2000" b="1" dirty="0"/>
              <a:t>tolerancia sensibilizada</a:t>
            </a:r>
            <a:r>
              <a:rPr lang="en-US" sz="2000" dirty="0"/>
              <a:t>.</a:t>
            </a:r>
            <a:endParaRPr lang="en-US" sz="2000" b="1" dirty="0"/>
          </a:p>
        </p:txBody>
      </p:sp>
      <p:pic>
        <p:nvPicPr>
          <p:cNvPr id="8" name="Imagen 7">
            <a:extLst>
              <a:ext uri="{FF2B5EF4-FFF2-40B4-BE49-F238E27FC236}">
                <a16:creationId xmlns:a16="http://schemas.microsoft.com/office/drawing/2014/main" id="{6483BCC3-EF8C-7664-4102-BB601A0404D7}"/>
              </a:ext>
            </a:extLst>
          </p:cNvPr>
          <p:cNvPicPr>
            <a:picLocks noChangeAspect="1"/>
          </p:cNvPicPr>
          <p:nvPr/>
        </p:nvPicPr>
        <p:blipFill>
          <a:blip r:embed="rId5"/>
          <a:stretch>
            <a:fillRect/>
          </a:stretch>
        </p:blipFill>
        <p:spPr>
          <a:xfrm>
            <a:off x="605299" y="1546961"/>
            <a:ext cx="7434729" cy="5088016"/>
          </a:xfrm>
          <a:prstGeom prst="rect">
            <a:avLst/>
          </a:prstGeom>
        </p:spPr>
      </p:pic>
    </p:spTree>
    <p:extLst>
      <p:ext uri="{BB962C8B-B14F-4D97-AF65-F5344CB8AC3E}">
        <p14:creationId xmlns:p14="http://schemas.microsoft.com/office/powerpoint/2010/main" val="3909377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11C27FB-10EC-4C17-8DCD-A115612519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a:t>
            </a:fld>
            <a:endParaRPr lang="en-US"/>
          </a:p>
        </p:txBody>
      </p:sp>
      <p:sp>
        <p:nvSpPr>
          <p:cNvPr id="4" name="Título 3">
            <a:extLst>
              <a:ext uri="{FF2B5EF4-FFF2-40B4-BE49-F238E27FC236}">
                <a16:creationId xmlns:a16="http://schemas.microsoft.com/office/drawing/2014/main" id="{4F93AAB5-F83C-4220-89EE-4A86006C3202}"/>
              </a:ext>
            </a:extLst>
          </p:cNvPr>
          <p:cNvSpPr>
            <a:spLocks noGrp="1"/>
          </p:cNvSpPr>
          <p:nvPr>
            <p:ph type="title"/>
          </p:nvPr>
        </p:nvSpPr>
        <p:spPr>
          <a:xfrm>
            <a:off x="2222667" y="658934"/>
            <a:ext cx="4047504" cy="580800"/>
          </a:xfrm>
        </p:spPr>
        <p:txBody>
          <a:bodyPr/>
          <a:lstStyle/>
          <a:p>
            <a:r>
              <a:rPr lang="es-CO" sz="4400" dirty="0"/>
              <a:t>Introduction</a:t>
            </a:r>
            <a:endParaRPr lang="es-ES" sz="4400" dirty="0"/>
          </a:p>
        </p:txBody>
      </p:sp>
      <p:sp>
        <p:nvSpPr>
          <p:cNvPr id="2" name="CuadroTexto 1">
            <a:extLst>
              <a:ext uri="{FF2B5EF4-FFF2-40B4-BE49-F238E27FC236}">
                <a16:creationId xmlns:a16="http://schemas.microsoft.com/office/drawing/2014/main" id="{C105DAC5-3DBB-4990-BADB-0BDC8D19F022}"/>
              </a:ext>
            </a:extLst>
          </p:cNvPr>
          <p:cNvSpPr txBox="1"/>
          <p:nvPr/>
        </p:nvSpPr>
        <p:spPr>
          <a:xfrm>
            <a:off x="2731653" y="1466385"/>
            <a:ext cx="9122094" cy="1200329"/>
          </a:xfrm>
          <a:prstGeom prst="rect">
            <a:avLst/>
          </a:prstGeom>
          <a:noFill/>
        </p:spPr>
        <p:txBody>
          <a:bodyPr wrap="square" rtlCol="0">
            <a:spAutoFit/>
          </a:bodyPr>
          <a:lstStyle/>
          <a:p>
            <a:pPr algn="ctr"/>
            <a:r>
              <a:rPr lang="es-MX" sz="2400" dirty="0"/>
              <a:t>El </a:t>
            </a:r>
            <a:r>
              <a:rPr lang="es-MX" sz="2400" b="1" dirty="0"/>
              <a:t>objetivo</a:t>
            </a:r>
            <a:r>
              <a:rPr lang="es-MX" sz="2400" dirty="0"/>
              <a:t> fue descubrir las características metabólicas asociadas con la alergia clínica a la leche (MA) y la tolerancia sensibilizada mediante metabolómica.</a:t>
            </a:r>
            <a:endParaRPr lang="en-US" sz="2400" b="1" dirty="0"/>
          </a:p>
        </p:txBody>
      </p:sp>
      <p:pic>
        <p:nvPicPr>
          <p:cNvPr id="8" name="Gráfico 7" descr="Libro abierto contorno">
            <a:extLst>
              <a:ext uri="{FF2B5EF4-FFF2-40B4-BE49-F238E27FC236}">
                <a16:creationId xmlns:a16="http://schemas.microsoft.com/office/drawing/2014/main" id="{0DB60C98-D6DE-4F3A-8C23-9748D7258C5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sp>
        <p:nvSpPr>
          <p:cNvPr id="6" name="Rectángulo 5">
            <a:extLst>
              <a:ext uri="{FF2B5EF4-FFF2-40B4-BE49-F238E27FC236}">
                <a16:creationId xmlns:a16="http://schemas.microsoft.com/office/drawing/2014/main" id="{1FEF0816-3E15-B118-D0B1-FC3D8ADECA34}"/>
              </a:ext>
            </a:extLst>
          </p:cNvPr>
          <p:cNvSpPr/>
          <p:nvPr/>
        </p:nvSpPr>
        <p:spPr>
          <a:xfrm>
            <a:off x="524108" y="1427357"/>
            <a:ext cx="1862254" cy="4170555"/>
          </a:xfrm>
          <a:prstGeom prst="rect">
            <a:avLst/>
          </a:prstGeom>
          <a:noFill/>
          <a:ln w="57150">
            <a:solidFill>
              <a:srgbClr val="FFCD00"/>
            </a:solidFill>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D2D5FA84-207B-7A0D-7BDA-C141C4B5EAC7}"/>
              </a:ext>
            </a:extLst>
          </p:cNvPr>
          <p:cNvPicPr>
            <a:picLocks noChangeAspect="1"/>
          </p:cNvPicPr>
          <p:nvPr/>
        </p:nvPicPr>
        <p:blipFill>
          <a:blip r:embed="rId4"/>
          <a:srcRect l="1435" t="11456" r="73389" b="11397"/>
          <a:stretch/>
        </p:blipFill>
        <p:spPr>
          <a:xfrm>
            <a:off x="602166" y="1466385"/>
            <a:ext cx="1706136" cy="3925229"/>
          </a:xfrm>
          <a:prstGeom prst="rect">
            <a:avLst/>
          </a:prstGeom>
        </p:spPr>
      </p:pic>
      <p:sp>
        <p:nvSpPr>
          <p:cNvPr id="11" name="CuadroTexto 10">
            <a:extLst>
              <a:ext uri="{FF2B5EF4-FFF2-40B4-BE49-F238E27FC236}">
                <a16:creationId xmlns:a16="http://schemas.microsoft.com/office/drawing/2014/main" id="{82C7C35D-ACCD-F8FE-A31E-7E4B149E7CF3}"/>
              </a:ext>
            </a:extLst>
          </p:cNvPr>
          <p:cNvSpPr txBox="1"/>
          <p:nvPr/>
        </p:nvSpPr>
        <p:spPr>
          <a:xfrm>
            <a:off x="2634675" y="3013500"/>
            <a:ext cx="9122094" cy="830997"/>
          </a:xfrm>
          <a:prstGeom prst="rect">
            <a:avLst/>
          </a:prstGeom>
          <a:noFill/>
        </p:spPr>
        <p:txBody>
          <a:bodyPr wrap="square" rtlCol="0">
            <a:spAutoFit/>
          </a:bodyPr>
          <a:lstStyle/>
          <a:p>
            <a:pPr algn="ctr"/>
            <a:r>
              <a:rPr lang="es-MX" sz="2400" dirty="0"/>
              <a:t>En el estudio participaron tres grupos de niños: 30 con MA clínica, 20 con tolerancia a la leche y 21 controles sanos.</a:t>
            </a:r>
            <a:endParaRPr lang="en-US" sz="2400" b="1" dirty="0"/>
          </a:p>
        </p:txBody>
      </p:sp>
      <p:sp>
        <p:nvSpPr>
          <p:cNvPr id="12" name="CuadroTexto 11">
            <a:extLst>
              <a:ext uri="{FF2B5EF4-FFF2-40B4-BE49-F238E27FC236}">
                <a16:creationId xmlns:a16="http://schemas.microsoft.com/office/drawing/2014/main" id="{7D1003ED-F689-9C45-9D34-B84C7CF3669D}"/>
              </a:ext>
            </a:extLst>
          </p:cNvPr>
          <p:cNvSpPr txBox="1"/>
          <p:nvPr/>
        </p:nvSpPr>
        <p:spPr>
          <a:xfrm>
            <a:off x="2810305" y="4587564"/>
            <a:ext cx="5118409" cy="1569660"/>
          </a:xfrm>
          <a:prstGeom prst="rect">
            <a:avLst/>
          </a:prstGeom>
          <a:noFill/>
        </p:spPr>
        <p:txBody>
          <a:bodyPr wrap="square" rtlCol="0">
            <a:spAutoFit/>
          </a:bodyPr>
          <a:lstStyle/>
          <a:p>
            <a:pPr algn="just"/>
            <a:r>
              <a:rPr lang="es-MX" sz="2400" dirty="0"/>
              <a:t>Asimismo, posteriormente, los metabolitos candidatos se validaron en una cohorte de cuantificación independiente (n = 41)</a:t>
            </a:r>
            <a:endParaRPr lang="en-US" sz="2400" b="1" dirty="0"/>
          </a:p>
        </p:txBody>
      </p:sp>
      <p:pic>
        <p:nvPicPr>
          <p:cNvPr id="13" name="Imagen 12">
            <a:extLst>
              <a:ext uri="{FF2B5EF4-FFF2-40B4-BE49-F238E27FC236}">
                <a16:creationId xmlns:a16="http://schemas.microsoft.com/office/drawing/2014/main" id="{AB6C0DD9-C535-CF64-B855-8025013F485E}"/>
              </a:ext>
            </a:extLst>
          </p:cNvPr>
          <p:cNvPicPr>
            <a:picLocks noChangeAspect="1"/>
          </p:cNvPicPr>
          <p:nvPr/>
        </p:nvPicPr>
        <p:blipFill>
          <a:blip r:embed="rId4"/>
          <a:srcRect l="54404" t="51972" r="2700" b="11397"/>
          <a:stretch/>
        </p:blipFill>
        <p:spPr>
          <a:xfrm>
            <a:off x="8352658" y="4440480"/>
            <a:ext cx="3189248" cy="1863829"/>
          </a:xfrm>
          <a:prstGeom prst="rect">
            <a:avLst/>
          </a:prstGeom>
        </p:spPr>
      </p:pic>
      <p:sp>
        <p:nvSpPr>
          <p:cNvPr id="14" name="Rectángulo 13">
            <a:extLst>
              <a:ext uri="{FF2B5EF4-FFF2-40B4-BE49-F238E27FC236}">
                <a16:creationId xmlns:a16="http://schemas.microsoft.com/office/drawing/2014/main" id="{4D1D294E-0544-AB97-0B00-4C37E9C27077}"/>
              </a:ext>
            </a:extLst>
          </p:cNvPr>
          <p:cNvSpPr/>
          <p:nvPr/>
        </p:nvSpPr>
        <p:spPr>
          <a:xfrm>
            <a:off x="8352658" y="4293220"/>
            <a:ext cx="3237176" cy="2196790"/>
          </a:xfrm>
          <a:prstGeom prst="rect">
            <a:avLst/>
          </a:prstGeom>
          <a:noFill/>
          <a:ln w="57150">
            <a:solidFill>
              <a:srgbClr val="FFCD00"/>
            </a:solidFill>
            <a:prstDash val="dash"/>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935865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0309F-89F0-1AA4-EEA6-03E6C9D43CFF}"/>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7C709C2-FA04-0E60-CCC7-B29F3D59ADE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6</a:t>
            </a:fld>
            <a:endParaRPr lang="en-US"/>
          </a:p>
        </p:txBody>
      </p:sp>
      <p:sp>
        <p:nvSpPr>
          <p:cNvPr id="4" name="Título 3">
            <a:extLst>
              <a:ext uri="{FF2B5EF4-FFF2-40B4-BE49-F238E27FC236}">
                <a16:creationId xmlns:a16="http://schemas.microsoft.com/office/drawing/2014/main" id="{E61543FB-889E-96AC-48E1-98B239EECE48}"/>
              </a:ext>
            </a:extLst>
          </p:cNvPr>
          <p:cNvSpPr>
            <a:spLocks noGrp="1"/>
          </p:cNvSpPr>
          <p:nvPr>
            <p:ph type="title"/>
          </p:nvPr>
        </p:nvSpPr>
        <p:spPr>
          <a:xfrm>
            <a:off x="2222667" y="658934"/>
            <a:ext cx="4047504" cy="580800"/>
          </a:xfrm>
        </p:spPr>
        <p:txBody>
          <a:bodyPr/>
          <a:lstStyle/>
          <a:p>
            <a:r>
              <a:rPr lang="es-CO" sz="4400" dirty="0" err="1"/>
              <a:t>Methods</a:t>
            </a:r>
            <a:endParaRPr lang="es-ES" sz="4400" dirty="0"/>
          </a:p>
        </p:txBody>
      </p:sp>
      <p:sp>
        <p:nvSpPr>
          <p:cNvPr id="2" name="CuadroTexto 1">
            <a:extLst>
              <a:ext uri="{FF2B5EF4-FFF2-40B4-BE49-F238E27FC236}">
                <a16:creationId xmlns:a16="http://schemas.microsoft.com/office/drawing/2014/main" id="{73452845-C5E0-6C4F-7626-09B6DF0146D8}"/>
              </a:ext>
            </a:extLst>
          </p:cNvPr>
          <p:cNvSpPr txBox="1"/>
          <p:nvPr/>
        </p:nvSpPr>
        <p:spPr>
          <a:xfrm>
            <a:off x="2865863" y="1639230"/>
            <a:ext cx="9166303" cy="2308324"/>
          </a:xfrm>
          <a:prstGeom prst="rect">
            <a:avLst/>
          </a:prstGeom>
          <a:noFill/>
        </p:spPr>
        <p:txBody>
          <a:bodyPr wrap="square" rtlCol="0">
            <a:spAutoFit/>
          </a:bodyPr>
          <a:lstStyle/>
          <a:p>
            <a:pPr algn="ctr"/>
            <a:r>
              <a:rPr lang="es-MX" sz="2400" dirty="0"/>
              <a:t>Se recogieron muestras de sangre de los participantes. Seguidamente, las muestras de suero se prepararon en un plazo de 2 horas y se almacenaron a 28 °C. Se midieron los niveles séricos de IgE total e IgE específica para alérgenos frente a 13 alérgenos mediante kits comerciales de inmunoensayo enzimático (HOB </a:t>
            </a:r>
            <a:r>
              <a:rPr lang="es-MX" sz="2400" dirty="0" err="1"/>
              <a:t>Biotech</a:t>
            </a:r>
            <a:r>
              <a:rPr lang="es-MX" sz="2400" dirty="0"/>
              <a:t> </a:t>
            </a:r>
            <a:r>
              <a:rPr lang="es-MX" sz="2400" dirty="0" err="1"/>
              <a:t>Group</a:t>
            </a:r>
            <a:r>
              <a:rPr lang="es-MX" sz="2400" dirty="0"/>
              <a:t>, </a:t>
            </a:r>
            <a:r>
              <a:rPr lang="es-MX" sz="2400" dirty="0" err="1"/>
              <a:t>Suzhou</a:t>
            </a:r>
            <a:r>
              <a:rPr lang="es-MX" sz="2400" dirty="0"/>
              <a:t>, China)</a:t>
            </a:r>
            <a:endParaRPr lang="en-US" sz="2400" b="1" dirty="0"/>
          </a:p>
        </p:txBody>
      </p:sp>
      <p:pic>
        <p:nvPicPr>
          <p:cNvPr id="8" name="Gráfico 7" descr="Libro abierto contorno">
            <a:extLst>
              <a:ext uri="{FF2B5EF4-FFF2-40B4-BE49-F238E27FC236}">
                <a16:creationId xmlns:a16="http://schemas.microsoft.com/office/drawing/2014/main" id="{D72E012D-7240-B9C8-04C9-B704A7FBACA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pic>
        <p:nvPicPr>
          <p:cNvPr id="5" name="Imagen 4">
            <a:extLst>
              <a:ext uri="{FF2B5EF4-FFF2-40B4-BE49-F238E27FC236}">
                <a16:creationId xmlns:a16="http://schemas.microsoft.com/office/drawing/2014/main" id="{BAC2280E-B90F-A424-5759-ABAB71B63D36}"/>
              </a:ext>
            </a:extLst>
          </p:cNvPr>
          <p:cNvPicPr>
            <a:picLocks noChangeAspect="1"/>
          </p:cNvPicPr>
          <p:nvPr/>
        </p:nvPicPr>
        <p:blipFill>
          <a:blip r:embed="rId4"/>
          <a:srcRect l="25906" t="11457" r="44996" b="11616"/>
          <a:stretch/>
        </p:blipFill>
        <p:spPr>
          <a:xfrm>
            <a:off x="258698" y="1717289"/>
            <a:ext cx="2163336" cy="3914078"/>
          </a:xfrm>
          <a:prstGeom prst="rect">
            <a:avLst/>
          </a:prstGeom>
        </p:spPr>
      </p:pic>
      <p:sp>
        <p:nvSpPr>
          <p:cNvPr id="7" name="CuadroTexto 6">
            <a:extLst>
              <a:ext uri="{FF2B5EF4-FFF2-40B4-BE49-F238E27FC236}">
                <a16:creationId xmlns:a16="http://schemas.microsoft.com/office/drawing/2014/main" id="{E41D068A-F796-F01D-38AF-6B3E92980A45}"/>
              </a:ext>
            </a:extLst>
          </p:cNvPr>
          <p:cNvSpPr txBox="1"/>
          <p:nvPr/>
        </p:nvSpPr>
        <p:spPr>
          <a:xfrm>
            <a:off x="2766999" y="4618605"/>
            <a:ext cx="9166303" cy="1200329"/>
          </a:xfrm>
          <a:prstGeom prst="rect">
            <a:avLst/>
          </a:prstGeom>
          <a:noFill/>
        </p:spPr>
        <p:txBody>
          <a:bodyPr wrap="square" rtlCol="0">
            <a:spAutoFit/>
          </a:bodyPr>
          <a:lstStyle/>
          <a:p>
            <a:pPr algn="ctr"/>
            <a:r>
              <a:rPr lang="es-MX" sz="2400" dirty="0"/>
              <a:t>Se realizó un perfil metabolómico global </a:t>
            </a:r>
            <a:r>
              <a:rPr lang="es-MX" sz="2400" b="1" dirty="0"/>
              <a:t>no dirigido </a:t>
            </a:r>
            <a:r>
              <a:rPr lang="es-MX" sz="2400" dirty="0"/>
              <a:t>mediante cromatografía líquida de ultra alta resolución con espectrometría de masas en tándem (UPLC-MS/MS)</a:t>
            </a:r>
            <a:endParaRPr lang="en-US" sz="2400" b="1" dirty="0"/>
          </a:p>
        </p:txBody>
      </p:sp>
      <p:cxnSp>
        <p:nvCxnSpPr>
          <p:cNvPr id="10" name="Conector: curvado 9">
            <a:extLst>
              <a:ext uri="{FF2B5EF4-FFF2-40B4-BE49-F238E27FC236}">
                <a16:creationId xmlns:a16="http://schemas.microsoft.com/office/drawing/2014/main" id="{9BE2F70E-120B-29EE-4154-C4D9A9789F73}"/>
              </a:ext>
            </a:extLst>
          </p:cNvPr>
          <p:cNvCxnSpPr>
            <a:cxnSpLocks/>
          </p:cNvCxnSpPr>
          <p:nvPr/>
        </p:nvCxnSpPr>
        <p:spPr>
          <a:xfrm flipV="1">
            <a:off x="2107583" y="2564784"/>
            <a:ext cx="659416" cy="579860"/>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ado 15">
            <a:extLst>
              <a:ext uri="{FF2B5EF4-FFF2-40B4-BE49-F238E27FC236}">
                <a16:creationId xmlns:a16="http://schemas.microsoft.com/office/drawing/2014/main" id="{78AA5BB8-4EF9-6AB1-ED4D-C5043A932D02}"/>
              </a:ext>
            </a:extLst>
          </p:cNvPr>
          <p:cNvCxnSpPr>
            <a:cxnSpLocks/>
          </p:cNvCxnSpPr>
          <p:nvPr/>
        </p:nvCxnSpPr>
        <p:spPr>
          <a:xfrm>
            <a:off x="2049606" y="4618605"/>
            <a:ext cx="717393" cy="516673"/>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1291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A8E-1D10-069E-6537-5B8E7A52D2EA}"/>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B1825A0C-E637-F064-D94C-026C933BBB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7</a:t>
            </a:fld>
            <a:endParaRPr lang="en-US"/>
          </a:p>
        </p:txBody>
      </p:sp>
      <p:sp>
        <p:nvSpPr>
          <p:cNvPr id="4" name="Título 3">
            <a:extLst>
              <a:ext uri="{FF2B5EF4-FFF2-40B4-BE49-F238E27FC236}">
                <a16:creationId xmlns:a16="http://schemas.microsoft.com/office/drawing/2014/main" id="{D1E721B1-8408-FDDF-BAFE-4BDDAC1657E9}"/>
              </a:ext>
            </a:extLst>
          </p:cNvPr>
          <p:cNvSpPr>
            <a:spLocks noGrp="1"/>
          </p:cNvSpPr>
          <p:nvPr>
            <p:ph type="title"/>
          </p:nvPr>
        </p:nvSpPr>
        <p:spPr>
          <a:xfrm>
            <a:off x="2033096" y="376524"/>
            <a:ext cx="5315557" cy="580800"/>
          </a:xfrm>
        </p:spPr>
        <p:txBody>
          <a:bodyPr/>
          <a:lstStyle/>
          <a:p>
            <a:r>
              <a:rPr lang="es-CO" sz="4400" dirty="0" err="1"/>
              <a:t>Validation</a:t>
            </a:r>
            <a:r>
              <a:rPr lang="es-CO" sz="4400" dirty="0"/>
              <a:t> and </a:t>
            </a:r>
            <a:r>
              <a:rPr lang="es-CO" sz="4400" dirty="0" err="1"/>
              <a:t>Statistical</a:t>
            </a:r>
            <a:r>
              <a:rPr lang="es-CO" sz="4400" dirty="0"/>
              <a:t> </a:t>
            </a:r>
            <a:r>
              <a:rPr lang="es-CO" sz="4400" dirty="0" err="1"/>
              <a:t>analysis</a:t>
            </a:r>
            <a:endParaRPr lang="es-ES" sz="4400" dirty="0"/>
          </a:p>
        </p:txBody>
      </p:sp>
      <p:pic>
        <p:nvPicPr>
          <p:cNvPr id="8" name="Gráfico 7" descr="Libro abierto contorno">
            <a:extLst>
              <a:ext uri="{FF2B5EF4-FFF2-40B4-BE49-F238E27FC236}">
                <a16:creationId xmlns:a16="http://schemas.microsoft.com/office/drawing/2014/main" id="{4EA2196E-DDCE-85CF-B32F-DB444D38B0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sp>
        <p:nvSpPr>
          <p:cNvPr id="7" name="CuadroTexto 6">
            <a:extLst>
              <a:ext uri="{FF2B5EF4-FFF2-40B4-BE49-F238E27FC236}">
                <a16:creationId xmlns:a16="http://schemas.microsoft.com/office/drawing/2014/main" id="{20505DD4-C2FD-CEC9-6CA8-3C18636F1089}"/>
              </a:ext>
            </a:extLst>
          </p:cNvPr>
          <p:cNvSpPr txBox="1"/>
          <p:nvPr/>
        </p:nvSpPr>
        <p:spPr>
          <a:xfrm>
            <a:off x="157905" y="1933523"/>
            <a:ext cx="4012084" cy="1938992"/>
          </a:xfrm>
          <a:prstGeom prst="rect">
            <a:avLst/>
          </a:prstGeom>
          <a:noFill/>
        </p:spPr>
        <p:txBody>
          <a:bodyPr wrap="square" rtlCol="0">
            <a:spAutoFit/>
          </a:bodyPr>
          <a:lstStyle/>
          <a:p>
            <a:pPr algn="ctr"/>
            <a:r>
              <a:rPr lang="es-MX" sz="2400" dirty="0"/>
              <a:t>Solo los individuos que no habían participado previamente en el experimento inicial fueron elegibles para la validación</a:t>
            </a:r>
            <a:endParaRPr lang="en-US" sz="2400" b="1" dirty="0"/>
          </a:p>
        </p:txBody>
      </p:sp>
      <p:cxnSp>
        <p:nvCxnSpPr>
          <p:cNvPr id="12" name="Conector recto 11">
            <a:extLst>
              <a:ext uri="{FF2B5EF4-FFF2-40B4-BE49-F238E27FC236}">
                <a16:creationId xmlns:a16="http://schemas.microsoft.com/office/drawing/2014/main" id="{9F88F353-8438-9EC1-452E-CB461669EDC0}"/>
              </a:ext>
            </a:extLst>
          </p:cNvPr>
          <p:cNvCxnSpPr/>
          <p:nvPr/>
        </p:nvCxnSpPr>
        <p:spPr>
          <a:xfrm>
            <a:off x="5965902" y="1416205"/>
            <a:ext cx="0" cy="5283675"/>
          </a:xfrm>
          <a:prstGeom prst="line">
            <a:avLst/>
          </a:prstGeom>
          <a:ln w="57150">
            <a:solidFill>
              <a:srgbClr val="FFC000"/>
            </a:solidFill>
            <a:prstDash val="sysDash"/>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A47B3F7C-43E8-FB97-B610-1308B203CEE3}"/>
              </a:ext>
            </a:extLst>
          </p:cNvPr>
          <p:cNvPicPr>
            <a:picLocks noChangeAspect="1"/>
          </p:cNvPicPr>
          <p:nvPr/>
        </p:nvPicPr>
        <p:blipFill>
          <a:blip r:embed="rId4"/>
          <a:srcRect l="54404" t="51972" r="2700" b="11397"/>
          <a:stretch/>
        </p:blipFill>
        <p:spPr>
          <a:xfrm>
            <a:off x="4260898" y="2703810"/>
            <a:ext cx="3670203" cy="2144904"/>
          </a:xfrm>
          <a:prstGeom prst="rect">
            <a:avLst/>
          </a:prstGeom>
        </p:spPr>
      </p:pic>
      <p:sp>
        <p:nvSpPr>
          <p:cNvPr id="18" name="CuadroTexto 17">
            <a:extLst>
              <a:ext uri="{FF2B5EF4-FFF2-40B4-BE49-F238E27FC236}">
                <a16:creationId xmlns:a16="http://schemas.microsoft.com/office/drawing/2014/main" id="{08DED8FD-AD56-55FC-4E5B-BB293626F57F}"/>
              </a:ext>
            </a:extLst>
          </p:cNvPr>
          <p:cNvSpPr txBox="1"/>
          <p:nvPr/>
        </p:nvSpPr>
        <p:spPr>
          <a:xfrm>
            <a:off x="7850458" y="1705436"/>
            <a:ext cx="4114799" cy="3785652"/>
          </a:xfrm>
          <a:prstGeom prst="rect">
            <a:avLst/>
          </a:prstGeom>
          <a:noFill/>
        </p:spPr>
        <p:txBody>
          <a:bodyPr wrap="square" rtlCol="0">
            <a:spAutoFit/>
          </a:bodyPr>
          <a:lstStyle/>
          <a:p>
            <a:pPr algn="ctr"/>
            <a:r>
              <a:rPr lang="es-MX" sz="2400" dirty="0"/>
              <a:t>Cuarenta y un individuos fueron reclutados y estratificados en los grupos HC (n = 10), MA (n = 14) y MST (n = 17). Se recogieron muestras de suero de cada participante y se analizaron para determinar las concentraciones de metabolitos candidatos</a:t>
            </a:r>
            <a:endParaRPr lang="en-US" sz="2400" b="1" dirty="0"/>
          </a:p>
        </p:txBody>
      </p:sp>
      <p:sp>
        <p:nvSpPr>
          <p:cNvPr id="20" name="CuadroTexto 19">
            <a:extLst>
              <a:ext uri="{FF2B5EF4-FFF2-40B4-BE49-F238E27FC236}">
                <a16:creationId xmlns:a16="http://schemas.microsoft.com/office/drawing/2014/main" id="{13E2C927-25EF-819C-560B-975578063309}"/>
              </a:ext>
            </a:extLst>
          </p:cNvPr>
          <p:cNvSpPr txBox="1"/>
          <p:nvPr/>
        </p:nvSpPr>
        <p:spPr>
          <a:xfrm>
            <a:off x="157905" y="4848714"/>
            <a:ext cx="3923442" cy="1200329"/>
          </a:xfrm>
          <a:prstGeom prst="rect">
            <a:avLst/>
          </a:prstGeom>
          <a:noFill/>
        </p:spPr>
        <p:txBody>
          <a:bodyPr wrap="square" rtlCol="0">
            <a:spAutoFit/>
          </a:bodyPr>
          <a:lstStyle/>
          <a:p>
            <a:pPr algn="ctr"/>
            <a:r>
              <a:rPr lang="es-MX" sz="2400" dirty="0"/>
              <a:t>Se empleo nuevamente la espectrometría de masas en tándem (UPLC-MS/MS)</a:t>
            </a:r>
            <a:endParaRPr lang="en-US" sz="2400" b="1" dirty="0"/>
          </a:p>
        </p:txBody>
      </p:sp>
    </p:spTree>
    <p:extLst>
      <p:ext uri="{BB962C8B-B14F-4D97-AF65-F5344CB8AC3E}">
        <p14:creationId xmlns:p14="http://schemas.microsoft.com/office/powerpoint/2010/main" val="118658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83BD2-CF74-EACC-28D8-566469E9CD9A}"/>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CA262C10-5A29-CB37-69F1-847D13FAA2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8</a:t>
            </a:fld>
            <a:endParaRPr lang="en-US"/>
          </a:p>
        </p:txBody>
      </p:sp>
      <p:sp>
        <p:nvSpPr>
          <p:cNvPr id="4" name="Título 3">
            <a:extLst>
              <a:ext uri="{FF2B5EF4-FFF2-40B4-BE49-F238E27FC236}">
                <a16:creationId xmlns:a16="http://schemas.microsoft.com/office/drawing/2014/main" id="{A72FB009-C835-98BC-5A1A-0C5DC182A4F6}"/>
              </a:ext>
            </a:extLst>
          </p:cNvPr>
          <p:cNvSpPr>
            <a:spLocks noGrp="1"/>
          </p:cNvSpPr>
          <p:nvPr>
            <p:ph type="title"/>
          </p:nvPr>
        </p:nvSpPr>
        <p:spPr>
          <a:xfrm>
            <a:off x="2033096" y="376524"/>
            <a:ext cx="5315557" cy="580800"/>
          </a:xfrm>
        </p:spPr>
        <p:txBody>
          <a:bodyPr/>
          <a:lstStyle/>
          <a:p>
            <a:r>
              <a:rPr lang="es-CO" sz="4400" dirty="0" err="1"/>
              <a:t>Validation</a:t>
            </a:r>
            <a:r>
              <a:rPr lang="es-CO" sz="4400" dirty="0"/>
              <a:t> and </a:t>
            </a:r>
            <a:r>
              <a:rPr lang="es-CO" sz="4400" dirty="0" err="1"/>
              <a:t>Statistical</a:t>
            </a:r>
            <a:r>
              <a:rPr lang="es-CO" sz="4400" dirty="0"/>
              <a:t> </a:t>
            </a:r>
            <a:r>
              <a:rPr lang="es-CO" sz="4400" dirty="0" err="1"/>
              <a:t>analysis</a:t>
            </a:r>
            <a:endParaRPr lang="es-ES" sz="4400" dirty="0"/>
          </a:p>
        </p:txBody>
      </p:sp>
      <p:pic>
        <p:nvPicPr>
          <p:cNvPr id="8" name="Gráfico 7" descr="Libro abierto contorno">
            <a:extLst>
              <a:ext uri="{FF2B5EF4-FFF2-40B4-BE49-F238E27FC236}">
                <a16:creationId xmlns:a16="http://schemas.microsoft.com/office/drawing/2014/main" id="{DA9580DE-A561-9F4F-B3EA-0516158369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pic>
        <p:nvPicPr>
          <p:cNvPr id="6" name="Imagen 5">
            <a:extLst>
              <a:ext uri="{FF2B5EF4-FFF2-40B4-BE49-F238E27FC236}">
                <a16:creationId xmlns:a16="http://schemas.microsoft.com/office/drawing/2014/main" id="{B6BCB7F0-19F9-17DE-ACCF-2FFEB9ECEB38}"/>
              </a:ext>
            </a:extLst>
          </p:cNvPr>
          <p:cNvPicPr>
            <a:picLocks noChangeAspect="1"/>
          </p:cNvPicPr>
          <p:nvPr/>
        </p:nvPicPr>
        <p:blipFill>
          <a:blip r:embed="rId4"/>
          <a:stretch>
            <a:fillRect/>
          </a:stretch>
        </p:blipFill>
        <p:spPr>
          <a:xfrm>
            <a:off x="425271" y="1460193"/>
            <a:ext cx="8607217" cy="3764089"/>
          </a:xfrm>
          <a:prstGeom prst="rect">
            <a:avLst/>
          </a:prstGeom>
        </p:spPr>
      </p:pic>
      <p:sp>
        <p:nvSpPr>
          <p:cNvPr id="7" name="CuadroTexto 6">
            <a:extLst>
              <a:ext uri="{FF2B5EF4-FFF2-40B4-BE49-F238E27FC236}">
                <a16:creationId xmlns:a16="http://schemas.microsoft.com/office/drawing/2014/main" id="{0781A5A9-0624-F989-B1A8-2CAEE827C089}"/>
              </a:ext>
            </a:extLst>
          </p:cNvPr>
          <p:cNvSpPr txBox="1"/>
          <p:nvPr/>
        </p:nvSpPr>
        <p:spPr>
          <a:xfrm>
            <a:off x="-90251" y="5294175"/>
            <a:ext cx="9032488" cy="1446550"/>
          </a:xfrm>
          <a:prstGeom prst="rect">
            <a:avLst/>
          </a:prstGeom>
          <a:noFill/>
        </p:spPr>
        <p:txBody>
          <a:bodyPr wrap="square" rtlCol="0">
            <a:spAutoFit/>
          </a:bodyPr>
          <a:lstStyle/>
          <a:p>
            <a:pPr algn="ctr"/>
            <a:r>
              <a:rPr lang="es-MX" sz="2200" dirty="0"/>
              <a:t>Se uso un </a:t>
            </a:r>
            <a:r>
              <a:rPr lang="es-MX" sz="2200" b="1" i="1" dirty="0"/>
              <a:t>P&lt;0,05 </a:t>
            </a:r>
            <a:r>
              <a:rPr lang="es-MX" sz="2200" dirty="0"/>
              <a:t>para ser considerado significativo, las comparaciones no paramétricas entre grupos se realizaron mediante pruebas </a:t>
            </a:r>
            <a:r>
              <a:rPr lang="es-MX" sz="2200" b="1" dirty="0"/>
              <a:t>t de </a:t>
            </a:r>
            <a:r>
              <a:rPr lang="es-MX" sz="2200" b="1" dirty="0" err="1"/>
              <a:t>Student</a:t>
            </a:r>
            <a:r>
              <a:rPr lang="es-MX" sz="2200" dirty="0"/>
              <a:t> para datos con distribución normal o pruebas U de </a:t>
            </a:r>
            <a:r>
              <a:rPr lang="es-MX" sz="2200" b="1" dirty="0"/>
              <a:t>Mann-Whitney</a:t>
            </a:r>
            <a:r>
              <a:rPr lang="es-MX" sz="2200" dirty="0"/>
              <a:t> para datos con distribución no normal</a:t>
            </a:r>
            <a:endParaRPr lang="en-US" sz="2200" dirty="0"/>
          </a:p>
        </p:txBody>
      </p:sp>
      <p:sp>
        <p:nvSpPr>
          <p:cNvPr id="5" name="CuadroTexto 4">
            <a:extLst>
              <a:ext uri="{FF2B5EF4-FFF2-40B4-BE49-F238E27FC236}">
                <a16:creationId xmlns:a16="http://schemas.microsoft.com/office/drawing/2014/main" id="{6359F83B-C3E5-ECC0-8C92-55010CBE4F35}"/>
              </a:ext>
            </a:extLst>
          </p:cNvPr>
          <p:cNvSpPr txBox="1"/>
          <p:nvPr/>
        </p:nvSpPr>
        <p:spPr>
          <a:xfrm>
            <a:off x="9032488" y="2588758"/>
            <a:ext cx="2935149" cy="2462213"/>
          </a:xfrm>
          <a:prstGeom prst="rect">
            <a:avLst/>
          </a:prstGeom>
          <a:noFill/>
        </p:spPr>
        <p:txBody>
          <a:bodyPr wrap="square">
            <a:spAutoFit/>
          </a:bodyPr>
          <a:lstStyle/>
          <a:p>
            <a:pPr algn="ctr"/>
            <a:r>
              <a:rPr lang="es-CO" sz="2200" dirty="0"/>
              <a:t>Por ultimo, el análisis de correlación entre los conjuntos de datos se realizó mediante el análisis de </a:t>
            </a:r>
            <a:r>
              <a:rPr lang="es-CO" sz="2200" b="1" dirty="0"/>
              <a:t>correlación de Spearman</a:t>
            </a:r>
          </a:p>
        </p:txBody>
      </p:sp>
    </p:spTree>
    <p:extLst>
      <p:ext uri="{BB962C8B-B14F-4D97-AF65-F5344CB8AC3E}">
        <p14:creationId xmlns:p14="http://schemas.microsoft.com/office/powerpoint/2010/main" val="4095745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7214-D5EF-2B2A-3299-5BBBC29E3386}"/>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5F42946C-097C-45FD-0724-19969F5DD3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9</a:t>
            </a:fld>
            <a:endParaRPr lang="en-US"/>
          </a:p>
        </p:txBody>
      </p:sp>
      <p:sp>
        <p:nvSpPr>
          <p:cNvPr id="4" name="Título 3">
            <a:extLst>
              <a:ext uri="{FF2B5EF4-FFF2-40B4-BE49-F238E27FC236}">
                <a16:creationId xmlns:a16="http://schemas.microsoft.com/office/drawing/2014/main" id="{80C93022-C0EE-5586-FFC3-6CA88A76C5D5}"/>
              </a:ext>
            </a:extLst>
          </p:cNvPr>
          <p:cNvSpPr>
            <a:spLocks noGrp="1"/>
          </p:cNvSpPr>
          <p:nvPr>
            <p:ph type="title"/>
          </p:nvPr>
        </p:nvSpPr>
        <p:spPr>
          <a:xfrm>
            <a:off x="2222667" y="658934"/>
            <a:ext cx="2491573" cy="580800"/>
          </a:xfrm>
        </p:spPr>
        <p:txBody>
          <a:bodyPr/>
          <a:lstStyle/>
          <a:p>
            <a:r>
              <a:rPr lang="es-CO" sz="4400" dirty="0" err="1"/>
              <a:t>Results</a:t>
            </a:r>
            <a:endParaRPr lang="es-ES" sz="4400" dirty="0"/>
          </a:p>
        </p:txBody>
      </p:sp>
      <p:pic>
        <p:nvPicPr>
          <p:cNvPr id="8" name="Gráfico 7" descr="Libro abierto contorno">
            <a:extLst>
              <a:ext uri="{FF2B5EF4-FFF2-40B4-BE49-F238E27FC236}">
                <a16:creationId xmlns:a16="http://schemas.microsoft.com/office/drawing/2014/main" id="{BF878B25-0AC8-5F71-07BE-A92F6EB329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sp>
        <p:nvSpPr>
          <p:cNvPr id="11" name="CuadroTexto 10">
            <a:extLst>
              <a:ext uri="{FF2B5EF4-FFF2-40B4-BE49-F238E27FC236}">
                <a16:creationId xmlns:a16="http://schemas.microsoft.com/office/drawing/2014/main" id="{D550E603-C434-544A-C405-7E46EFEA443C}"/>
              </a:ext>
            </a:extLst>
          </p:cNvPr>
          <p:cNvSpPr txBox="1"/>
          <p:nvPr/>
        </p:nvSpPr>
        <p:spPr>
          <a:xfrm>
            <a:off x="4570948" y="5395206"/>
            <a:ext cx="6606701" cy="1569660"/>
          </a:xfrm>
          <a:prstGeom prst="rect">
            <a:avLst/>
          </a:prstGeom>
          <a:noFill/>
        </p:spPr>
        <p:txBody>
          <a:bodyPr wrap="square">
            <a:spAutoFit/>
          </a:bodyPr>
          <a:lstStyle/>
          <a:p>
            <a:pPr algn="just"/>
            <a:r>
              <a:rPr lang="es-MX" sz="2400" dirty="0"/>
              <a:t>Los resultados señalan que MA y la sensibilización a la tolerancia se caracterizaron por la alteración de la interacción arginina-prolina-glutamato</a:t>
            </a:r>
            <a:endParaRPr lang="es-CO" sz="2400" dirty="0"/>
          </a:p>
        </p:txBody>
      </p:sp>
      <p:pic>
        <p:nvPicPr>
          <p:cNvPr id="2" name="Imagen 1">
            <a:extLst>
              <a:ext uri="{FF2B5EF4-FFF2-40B4-BE49-F238E27FC236}">
                <a16:creationId xmlns:a16="http://schemas.microsoft.com/office/drawing/2014/main" id="{D6F40D72-B265-7236-F988-9B48B95B8427}"/>
              </a:ext>
            </a:extLst>
          </p:cNvPr>
          <p:cNvPicPr>
            <a:picLocks noChangeAspect="1"/>
          </p:cNvPicPr>
          <p:nvPr/>
        </p:nvPicPr>
        <p:blipFill>
          <a:blip r:embed="rId4"/>
          <a:srcRect l="55666" t="10090" r="4492" b="47825"/>
          <a:stretch/>
        </p:blipFill>
        <p:spPr>
          <a:xfrm>
            <a:off x="801031" y="1647677"/>
            <a:ext cx="2962155" cy="2141317"/>
          </a:xfrm>
          <a:prstGeom prst="rect">
            <a:avLst/>
          </a:prstGeom>
        </p:spPr>
      </p:pic>
      <p:pic>
        <p:nvPicPr>
          <p:cNvPr id="6" name="Imagen 5">
            <a:extLst>
              <a:ext uri="{FF2B5EF4-FFF2-40B4-BE49-F238E27FC236}">
                <a16:creationId xmlns:a16="http://schemas.microsoft.com/office/drawing/2014/main" id="{F88D49A4-E0A3-DA20-4E34-51E3503F214B}"/>
              </a:ext>
            </a:extLst>
          </p:cNvPr>
          <p:cNvPicPr>
            <a:picLocks noChangeAspect="1"/>
          </p:cNvPicPr>
          <p:nvPr/>
        </p:nvPicPr>
        <p:blipFill>
          <a:blip r:embed="rId5"/>
          <a:stretch>
            <a:fillRect/>
          </a:stretch>
        </p:blipFill>
        <p:spPr>
          <a:xfrm>
            <a:off x="4868396" y="1612070"/>
            <a:ext cx="6011807" cy="3633860"/>
          </a:xfrm>
          <a:prstGeom prst="rect">
            <a:avLst/>
          </a:prstGeom>
          <a:ln>
            <a:solidFill>
              <a:schemeClr val="tx1"/>
            </a:solidFill>
          </a:ln>
        </p:spPr>
      </p:pic>
      <p:pic>
        <p:nvPicPr>
          <p:cNvPr id="9" name="Imagen 8">
            <a:extLst>
              <a:ext uri="{FF2B5EF4-FFF2-40B4-BE49-F238E27FC236}">
                <a16:creationId xmlns:a16="http://schemas.microsoft.com/office/drawing/2014/main" id="{B419516D-8A2A-F375-68F9-53C1759FFEA8}"/>
              </a:ext>
            </a:extLst>
          </p:cNvPr>
          <p:cNvPicPr>
            <a:picLocks noChangeAspect="1"/>
          </p:cNvPicPr>
          <p:nvPr/>
        </p:nvPicPr>
        <p:blipFill>
          <a:blip r:embed="rId4"/>
          <a:srcRect l="54404" t="51972" r="2700" b="11397"/>
          <a:stretch/>
        </p:blipFill>
        <p:spPr>
          <a:xfrm>
            <a:off x="447006" y="4196937"/>
            <a:ext cx="3670203" cy="2144904"/>
          </a:xfrm>
          <a:prstGeom prst="rect">
            <a:avLst/>
          </a:prstGeom>
        </p:spPr>
      </p:pic>
      <p:sp>
        <p:nvSpPr>
          <p:cNvPr id="10" name="Elipse 9">
            <a:extLst>
              <a:ext uri="{FF2B5EF4-FFF2-40B4-BE49-F238E27FC236}">
                <a16:creationId xmlns:a16="http://schemas.microsoft.com/office/drawing/2014/main" id="{47E2BDF2-B28E-0A65-88BF-CE4F934F22C1}"/>
              </a:ext>
            </a:extLst>
          </p:cNvPr>
          <p:cNvSpPr/>
          <p:nvPr/>
        </p:nvSpPr>
        <p:spPr>
          <a:xfrm>
            <a:off x="447006" y="4196937"/>
            <a:ext cx="3670203" cy="1048993"/>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697672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49F65-F8F8-B7E5-2FBD-CEF1DDBCC332}"/>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C82096C0-F0B5-6F74-C8EB-077BDB2514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10</a:t>
            </a:fld>
            <a:endParaRPr lang="en-US"/>
          </a:p>
        </p:txBody>
      </p:sp>
      <p:sp>
        <p:nvSpPr>
          <p:cNvPr id="4" name="Título 3">
            <a:extLst>
              <a:ext uri="{FF2B5EF4-FFF2-40B4-BE49-F238E27FC236}">
                <a16:creationId xmlns:a16="http://schemas.microsoft.com/office/drawing/2014/main" id="{55C656D8-A88F-DF82-1811-9F25521491CF}"/>
              </a:ext>
            </a:extLst>
          </p:cNvPr>
          <p:cNvSpPr>
            <a:spLocks noGrp="1"/>
          </p:cNvSpPr>
          <p:nvPr>
            <p:ph type="title"/>
          </p:nvPr>
        </p:nvSpPr>
        <p:spPr>
          <a:xfrm>
            <a:off x="2222667" y="658934"/>
            <a:ext cx="2491573" cy="580800"/>
          </a:xfrm>
        </p:spPr>
        <p:txBody>
          <a:bodyPr/>
          <a:lstStyle/>
          <a:p>
            <a:r>
              <a:rPr lang="es-CO" sz="4400" dirty="0" err="1"/>
              <a:t>Results</a:t>
            </a:r>
            <a:endParaRPr lang="es-ES" sz="4400" dirty="0"/>
          </a:p>
        </p:txBody>
      </p:sp>
      <p:pic>
        <p:nvPicPr>
          <p:cNvPr id="8" name="Gráfico 7" descr="Libro abierto contorno">
            <a:extLst>
              <a:ext uri="{FF2B5EF4-FFF2-40B4-BE49-F238E27FC236}">
                <a16:creationId xmlns:a16="http://schemas.microsoft.com/office/drawing/2014/main" id="{0E649FD2-6302-42E0-D8D6-6C1F8EB0E4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pic>
        <p:nvPicPr>
          <p:cNvPr id="7" name="Imagen 6">
            <a:extLst>
              <a:ext uri="{FF2B5EF4-FFF2-40B4-BE49-F238E27FC236}">
                <a16:creationId xmlns:a16="http://schemas.microsoft.com/office/drawing/2014/main" id="{58684B73-F4FE-4924-A55A-CBFF164AF2F3}"/>
              </a:ext>
            </a:extLst>
          </p:cNvPr>
          <p:cNvPicPr>
            <a:picLocks noChangeAspect="1"/>
          </p:cNvPicPr>
          <p:nvPr/>
        </p:nvPicPr>
        <p:blipFill>
          <a:blip r:embed="rId4"/>
          <a:srcRect b="33333"/>
          <a:stretch/>
        </p:blipFill>
        <p:spPr>
          <a:xfrm>
            <a:off x="419426" y="1364895"/>
            <a:ext cx="7370428" cy="4223581"/>
          </a:xfrm>
          <a:prstGeom prst="rect">
            <a:avLst/>
          </a:prstGeom>
        </p:spPr>
      </p:pic>
      <p:pic>
        <p:nvPicPr>
          <p:cNvPr id="13" name="Imagen 12">
            <a:extLst>
              <a:ext uri="{FF2B5EF4-FFF2-40B4-BE49-F238E27FC236}">
                <a16:creationId xmlns:a16="http://schemas.microsoft.com/office/drawing/2014/main" id="{320C315B-AA2E-E937-3112-DBCCA9311311}"/>
              </a:ext>
            </a:extLst>
          </p:cNvPr>
          <p:cNvPicPr>
            <a:picLocks noChangeAspect="1"/>
          </p:cNvPicPr>
          <p:nvPr/>
        </p:nvPicPr>
        <p:blipFill>
          <a:blip r:embed="rId5"/>
          <a:srcRect r="67371"/>
          <a:stretch/>
        </p:blipFill>
        <p:spPr>
          <a:xfrm>
            <a:off x="7940437" y="1364895"/>
            <a:ext cx="2595483" cy="2495898"/>
          </a:xfrm>
          <a:prstGeom prst="rect">
            <a:avLst/>
          </a:prstGeom>
        </p:spPr>
      </p:pic>
      <p:pic>
        <p:nvPicPr>
          <p:cNvPr id="15" name="Imagen 14">
            <a:extLst>
              <a:ext uri="{FF2B5EF4-FFF2-40B4-BE49-F238E27FC236}">
                <a16:creationId xmlns:a16="http://schemas.microsoft.com/office/drawing/2014/main" id="{42F159EF-FD44-3165-3374-961EDB61FC3D}"/>
              </a:ext>
            </a:extLst>
          </p:cNvPr>
          <p:cNvPicPr>
            <a:picLocks noChangeAspect="1"/>
          </p:cNvPicPr>
          <p:nvPr/>
        </p:nvPicPr>
        <p:blipFill>
          <a:blip r:embed="rId6"/>
          <a:stretch>
            <a:fillRect/>
          </a:stretch>
        </p:blipFill>
        <p:spPr>
          <a:xfrm>
            <a:off x="7707851" y="4101564"/>
            <a:ext cx="4064723" cy="1486912"/>
          </a:xfrm>
          <a:prstGeom prst="rect">
            <a:avLst/>
          </a:prstGeom>
        </p:spPr>
      </p:pic>
      <p:sp>
        <p:nvSpPr>
          <p:cNvPr id="17" name="CuadroTexto 16">
            <a:extLst>
              <a:ext uri="{FF2B5EF4-FFF2-40B4-BE49-F238E27FC236}">
                <a16:creationId xmlns:a16="http://schemas.microsoft.com/office/drawing/2014/main" id="{1548FEED-63BB-7728-9AD3-183704652B17}"/>
              </a:ext>
            </a:extLst>
          </p:cNvPr>
          <p:cNvSpPr txBox="1"/>
          <p:nvPr/>
        </p:nvSpPr>
        <p:spPr>
          <a:xfrm>
            <a:off x="497840" y="5641428"/>
            <a:ext cx="10556240" cy="1015663"/>
          </a:xfrm>
          <a:prstGeom prst="rect">
            <a:avLst/>
          </a:prstGeom>
          <a:noFill/>
        </p:spPr>
        <p:txBody>
          <a:bodyPr wrap="square">
            <a:spAutoFit/>
          </a:bodyPr>
          <a:lstStyle/>
          <a:p>
            <a:r>
              <a:rPr lang="es-CO" sz="2000" dirty="0"/>
              <a:t>A) Modelos PLS-DA para comparaciones entre (a) grupos MA y HC, (b) grupos MA y MST, y (c) grupos MST y HC, basados ​​en la combinación de señales de espectrometría de masas detectadas en los modos de ionización por </a:t>
            </a:r>
            <a:r>
              <a:rPr lang="es-CO" sz="2000" dirty="0" err="1"/>
              <a:t>electrospray</a:t>
            </a:r>
            <a:r>
              <a:rPr lang="es-CO" sz="2000" dirty="0"/>
              <a:t> (ESI) positivo y negativo</a:t>
            </a:r>
          </a:p>
        </p:txBody>
      </p:sp>
    </p:spTree>
    <p:extLst>
      <p:ext uri="{BB962C8B-B14F-4D97-AF65-F5344CB8AC3E}">
        <p14:creationId xmlns:p14="http://schemas.microsoft.com/office/powerpoint/2010/main" val="1888932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E2DC5-286B-6994-D33B-272E39BD2531}"/>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9C8F0796-8B86-4A43-4010-161E93A622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11</a:t>
            </a:fld>
            <a:endParaRPr lang="en-US"/>
          </a:p>
        </p:txBody>
      </p:sp>
      <p:sp>
        <p:nvSpPr>
          <p:cNvPr id="4" name="Título 3">
            <a:extLst>
              <a:ext uri="{FF2B5EF4-FFF2-40B4-BE49-F238E27FC236}">
                <a16:creationId xmlns:a16="http://schemas.microsoft.com/office/drawing/2014/main" id="{0A334696-099E-C80B-A6F1-400470DF85AD}"/>
              </a:ext>
            </a:extLst>
          </p:cNvPr>
          <p:cNvSpPr>
            <a:spLocks noGrp="1"/>
          </p:cNvSpPr>
          <p:nvPr>
            <p:ph type="title"/>
          </p:nvPr>
        </p:nvSpPr>
        <p:spPr>
          <a:xfrm>
            <a:off x="2222667" y="658934"/>
            <a:ext cx="2491573" cy="580800"/>
          </a:xfrm>
        </p:spPr>
        <p:txBody>
          <a:bodyPr/>
          <a:lstStyle/>
          <a:p>
            <a:r>
              <a:rPr lang="es-CO" sz="4400" dirty="0" err="1"/>
              <a:t>Results</a:t>
            </a:r>
            <a:endParaRPr lang="es-ES" sz="4400" dirty="0"/>
          </a:p>
        </p:txBody>
      </p:sp>
      <p:pic>
        <p:nvPicPr>
          <p:cNvPr id="8" name="Gráfico 7" descr="Libro abierto contorno">
            <a:extLst>
              <a:ext uri="{FF2B5EF4-FFF2-40B4-BE49-F238E27FC236}">
                <a16:creationId xmlns:a16="http://schemas.microsoft.com/office/drawing/2014/main" id="{0F8DE983-1562-4EE1-3BDB-30F6FF747B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sp>
        <p:nvSpPr>
          <p:cNvPr id="17" name="CuadroTexto 16">
            <a:extLst>
              <a:ext uri="{FF2B5EF4-FFF2-40B4-BE49-F238E27FC236}">
                <a16:creationId xmlns:a16="http://schemas.microsoft.com/office/drawing/2014/main" id="{6AB90133-BD8B-6B33-FFCE-735170B9BDAD}"/>
              </a:ext>
            </a:extLst>
          </p:cNvPr>
          <p:cNvSpPr txBox="1"/>
          <p:nvPr/>
        </p:nvSpPr>
        <p:spPr>
          <a:xfrm>
            <a:off x="94727" y="1506308"/>
            <a:ext cx="6001273" cy="2246769"/>
          </a:xfrm>
          <a:prstGeom prst="rect">
            <a:avLst/>
          </a:prstGeom>
          <a:noFill/>
        </p:spPr>
        <p:txBody>
          <a:bodyPr wrap="square">
            <a:spAutoFit/>
          </a:bodyPr>
          <a:lstStyle/>
          <a:p>
            <a:pPr algn="just"/>
            <a:r>
              <a:rPr lang="es-MX" sz="2000" dirty="0"/>
              <a:t>A diferencia de los niños con alergias clínicas, las características metabolómicas de los sujetos con tolerancia sensibilizada se caracterizaron por alteraciones distintivas en el metabolismo de la arginina, la prolina y el glutatión, destacando la depleción de arginina y los altos niveles de prolina, glutamato y GABA</a:t>
            </a:r>
            <a:endParaRPr lang="es-CO" sz="2000" dirty="0"/>
          </a:p>
        </p:txBody>
      </p:sp>
      <p:pic>
        <p:nvPicPr>
          <p:cNvPr id="5" name="Imagen 4">
            <a:extLst>
              <a:ext uri="{FF2B5EF4-FFF2-40B4-BE49-F238E27FC236}">
                <a16:creationId xmlns:a16="http://schemas.microsoft.com/office/drawing/2014/main" id="{B03CA5D3-81EB-8996-9644-81D2F4895CD8}"/>
              </a:ext>
            </a:extLst>
          </p:cNvPr>
          <p:cNvPicPr>
            <a:picLocks noChangeAspect="1"/>
          </p:cNvPicPr>
          <p:nvPr/>
        </p:nvPicPr>
        <p:blipFill>
          <a:blip r:embed="rId4"/>
          <a:stretch>
            <a:fillRect/>
          </a:stretch>
        </p:blipFill>
        <p:spPr>
          <a:xfrm>
            <a:off x="1568966" y="3753077"/>
            <a:ext cx="3308313" cy="2946749"/>
          </a:xfrm>
          <a:prstGeom prst="rect">
            <a:avLst/>
          </a:prstGeom>
          <a:ln>
            <a:solidFill>
              <a:schemeClr val="tx1"/>
            </a:solidFill>
          </a:ln>
        </p:spPr>
      </p:pic>
      <p:pic>
        <p:nvPicPr>
          <p:cNvPr id="9" name="Imagen 8">
            <a:extLst>
              <a:ext uri="{FF2B5EF4-FFF2-40B4-BE49-F238E27FC236}">
                <a16:creationId xmlns:a16="http://schemas.microsoft.com/office/drawing/2014/main" id="{9E459B35-4882-23CD-7A72-835812C50D44}"/>
              </a:ext>
            </a:extLst>
          </p:cNvPr>
          <p:cNvPicPr>
            <a:picLocks noChangeAspect="1"/>
          </p:cNvPicPr>
          <p:nvPr/>
        </p:nvPicPr>
        <p:blipFill>
          <a:blip r:embed="rId5"/>
          <a:stretch>
            <a:fillRect/>
          </a:stretch>
        </p:blipFill>
        <p:spPr>
          <a:xfrm>
            <a:off x="6221832" y="1124124"/>
            <a:ext cx="5875441" cy="3459231"/>
          </a:xfrm>
          <a:prstGeom prst="rect">
            <a:avLst/>
          </a:prstGeom>
          <a:ln>
            <a:solidFill>
              <a:schemeClr val="tx1"/>
            </a:solidFill>
          </a:ln>
        </p:spPr>
      </p:pic>
      <p:sp>
        <p:nvSpPr>
          <p:cNvPr id="11" name="CuadroTexto 10">
            <a:extLst>
              <a:ext uri="{FF2B5EF4-FFF2-40B4-BE49-F238E27FC236}">
                <a16:creationId xmlns:a16="http://schemas.microsoft.com/office/drawing/2014/main" id="{0C67C71C-704D-7FF4-830F-F5E6508E7E4E}"/>
              </a:ext>
            </a:extLst>
          </p:cNvPr>
          <p:cNvSpPr txBox="1"/>
          <p:nvPr/>
        </p:nvSpPr>
        <p:spPr>
          <a:xfrm>
            <a:off x="6434485" y="4764380"/>
            <a:ext cx="5018914" cy="1938992"/>
          </a:xfrm>
          <a:prstGeom prst="rect">
            <a:avLst/>
          </a:prstGeom>
          <a:noFill/>
        </p:spPr>
        <p:txBody>
          <a:bodyPr wrap="square">
            <a:spAutoFit/>
          </a:bodyPr>
          <a:lstStyle/>
          <a:p>
            <a:r>
              <a:rPr lang="es-CO" sz="2000" dirty="0"/>
              <a:t>Estos resultados apuntan a la acumulación de glutamato y su derivación posterior a la biosíntesis de GABA y glutatión en la modulación de los fenotipos alérgicos con la IgE (anticuerpo que genera la alergia) y el sistema inmune</a:t>
            </a:r>
          </a:p>
        </p:txBody>
      </p:sp>
    </p:spTree>
    <p:extLst>
      <p:ext uri="{BB962C8B-B14F-4D97-AF65-F5344CB8AC3E}">
        <p14:creationId xmlns:p14="http://schemas.microsoft.com/office/powerpoint/2010/main" val="3046354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FEFF-6933-1D54-C972-4B8D176C9717}"/>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3B879FE2-6DD8-4D2F-240D-A4BDDBC58AC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12</a:t>
            </a:fld>
            <a:endParaRPr lang="en-US"/>
          </a:p>
        </p:txBody>
      </p:sp>
      <p:sp>
        <p:nvSpPr>
          <p:cNvPr id="4" name="Título 3">
            <a:extLst>
              <a:ext uri="{FF2B5EF4-FFF2-40B4-BE49-F238E27FC236}">
                <a16:creationId xmlns:a16="http://schemas.microsoft.com/office/drawing/2014/main" id="{EC5B36A0-84A3-4AAA-E6BC-0543473ABB81}"/>
              </a:ext>
            </a:extLst>
          </p:cNvPr>
          <p:cNvSpPr>
            <a:spLocks noGrp="1"/>
          </p:cNvSpPr>
          <p:nvPr>
            <p:ph type="title"/>
          </p:nvPr>
        </p:nvSpPr>
        <p:spPr>
          <a:xfrm>
            <a:off x="2222667" y="658934"/>
            <a:ext cx="2491573" cy="580800"/>
          </a:xfrm>
        </p:spPr>
        <p:txBody>
          <a:bodyPr/>
          <a:lstStyle/>
          <a:p>
            <a:r>
              <a:rPr lang="es-CO" sz="4400" dirty="0" err="1"/>
              <a:t>Results</a:t>
            </a:r>
            <a:endParaRPr lang="es-ES" sz="4400" dirty="0"/>
          </a:p>
        </p:txBody>
      </p:sp>
      <p:pic>
        <p:nvPicPr>
          <p:cNvPr id="8" name="Gráfico 7" descr="Libro abierto contorno">
            <a:extLst>
              <a:ext uri="{FF2B5EF4-FFF2-40B4-BE49-F238E27FC236}">
                <a16:creationId xmlns:a16="http://schemas.microsoft.com/office/drawing/2014/main" id="{8288E497-CBF1-6FD9-869F-2334AC01DC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sp>
        <p:nvSpPr>
          <p:cNvPr id="17" name="CuadroTexto 16">
            <a:extLst>
              <a:ext uri="{FF2B5EF4-FFF2-40B4-BE49-F238E27FC236}">
                <a16:creationId xmlns:a16="http://schemas.microsoft.com/office/drawing/2014/main" id="{669EC735-AD60-B378-A1D4-9BAEBECB4B3A}"/>
              </a:ext>
            </a:extLst>
          </p:cNvPr>
          <p:cNvSpPr txBox="1"/>
          <p:nvPr/>
        </p:nvSpPr>
        <p:spPr>
          <a:xfrm>
            <a:off x="497840" y="5641428"/>
            <a:ext cx="11354636" cy="1015663"/>
          </a:xfrm>
          <a:prstGeom prst="rect">
            <a:avLst/>
          </a:prstGeom>
          <a:noFill/>
        </p:spPr>
        <p:txBody>
          <a:bodyPr wrap="square">
            <a:spAutoFit/>
          </a:bodyPr>
          <a:lstStyle/>
          <a:p>
            <a:r>
              <a:rPr lang="es-MX" sz="2000" dirty="0"/>
              <a:t>C) Trayectorias de los metabolitos más relevantes en tres grupos de muestras, representadas como intensidades de señal detectadas mediante perfiles metabolómicos. (D) Representación de las conexiones entre el metabolismo de la arginina y la prolina y las vías metabólicas del glutatión.</a:t>
            </a:r>
            <a:endParaRPr lang="es-CO" sz="2000" dirty="0"/>
          </a:p>
        </p:txBody>
      </p:sp>
      <p:pic>
        <p:nvPicPr>
          <p:cNvPr id="5" name="Imagen 4">
            <a:extLst>
              <a:ext uri="{FF2B5EF4-FFF2-40B4-BE49-F238E27FC236}">
                <a16:creationId xmlns:a16="http://schemas.microsoft.com/office/drawing/2014/main" id="{924D8E4D-44D0-1145-1BCF-48F1F2E80A0F}"/>
              </a:ext>
            </a:extLst>
          </p:cNvPr>
          <p:cNvPicPr>
            <a:picLocks noChangeAspect="1"/>
          </p:cNvPicPr>
          <p:nvPr/>
        </p:nvPicPr>
        <p:blipFill>
          <a:blip r:embed="rId4"/>
          <a:stretch>
            <a:fillRect/>
          </a:stretch>
        </p:blipFill>
        <p:spPr>
          <a:xfrm>
            <a:off x="1050745" y="1402630"/>
            <a:ext cx="9450429" cy="4191512"/>
          </a:xfrm>
          <a:prstGeom prst="rect">
            <a:avLst/>
          </a:prstGeom>
        </p:spPr>
      </p:pic>
    </p:spTree>
    <p:extLst>
      <p:ext uri="{BB962C8B-B14F-4D97-AF65-F5344CB8AC3E}">
        <p14:creationId xmlns:p14="http://schemas.microsoft.com/office/powerpoint/2010/main" val="75563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7B79-10FC-0D3C-3EDF-D713959635CB}"/>
            </a:ext>
          </a:extLst>
        </p:cNvPr>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3239DF3-26B2-DF1D-DCC9-8D074F98D6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13</a:t>
            </a:fld>
            <a:endParaRPr lang="en-US"/>
          </a:p>
        </p:txBody>
      </p:sp>
      <p:sp>
        <p:nvSpPr>
          <p:cNvPr id="4" name="Título 3">
            <a:extLst>
              <a:ext uri="{FF2B5EF4-FFF2-40B4-BE49-F238E27FC236}">
                <a16:creationId xmlns:a16="http://schemas.microsoft.com/office/drawing/2014/main" id="{2DDE6339-30F7-7B32-8FBB-204FBBD3C222}"/>
              </a:ext>
            </a:extLst>
          </p:cNvPr>
          <p:cNvSpPr>
            <a:spLocks noGrp="1"/>
          </p:cNvSpPr>
          <p:nvPr>
            <p:ph type="title"/>
          </p:nvPr>
        </p:nvSpPr>
        <p:spPr>
          <a:xfrm>
            <a:off x="2222667" y="658934"/>
            <a:ext cx="2491573" cy="580800"/>
          </a:xfrm>
        </p:spPr>
        <p:txBody>
          <a:bodyPr/>
          <a:lstStyle/>
          <a:p>
            <a:r>
              <a:rPr lang="es-CO" sz="4400" dirty="0" err="1"/>
              <a:t>Results</a:t>
            </a:r>
            <a:endParaRPr lang="es-ES" sz="4400" dirty="0"/>
          </a:p>
        </p:txBody>
      </p:sp>
      <p:pic>
        <p:nvPicPr>
          <p:cNvPr id="8" name="Gráfico 7" descr="Libro abierto contorno">
            <a:extLst>
              <a:ext uri="{FF2B5EF4-FFF2-40B4-BE49-F238E27FC236}">
                <a16:creationId xmlns:a16="http://schemas.microsoft.com/office/drawing/2014/main" id="{190A9A2B-1D72-77C6-8895-A49C2EE4C9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1766" y="666924"/>
            <a:ext cx="457200" cy="457200"/>
          </a:xfrm>
          <a:prstGeom prst="rect">
            <a:avLst/>
          </a:prstGeom>
        </p:spPr>
      </p:pic>
      <p:sp>
        <p:nvSpPr>
          <p:cNvPr id="17" name="CuadroTexto 16">
            <a:extLst>
              <a:ext uri="{FF2B5EF4-FFF2-40B4-BE49-F238E27FC236}">
                <a16:creationId xmlns:a16="http://schemas.microsoft.com/office/drawing/2014/main" id="{2CB5433A-82CD-9F9B-F579-6C6110D72548}"/>
              </a:ext>
            </a:extLst>
          </p:cNvPr>
          <p:cNvSpPr txBox="1"/>
          <p:nvPr/>
        </p:nvSpPr>
        <p:spPr>
          <a:xfrm>
            <a:off x="975112" y="1651273"/>
            <a:ext cx="3308313" cy="4093428"/>
          </a:xfrm>
          <a:prstGeom prst="rect">
            <a:avLst/>
          </a:prstGeom>
          <a:noFill/>
        </p:spPr>
        <p:txBody>
          <a:bodyPr wrap="square">
            <a:spAutoFit/>
          </a:bodyPr>
          <a:lstStyle/>
          <a:p>
            <a:pPr algn="just"/>
            <a:r>
              <a:rPr lang="es-MX" sz="2000" dirty="0"/>
              <a:t>Los resultados sugieren que la interacción arginina-glutamato es un posible eje regulador de los fenotipos alérgicos con sensibilización, y el mecanismo relacionado de la células T. Adicionalmente, el estado de polisensibilización del MA se asoció con alteraciones en el metabolismo del triptófano.</a:t>
            </a:r>
            <a:endParaRPr lang="es-CO" sz="2000" dirty="0"/>
          </a:p>
        </p:txBody>
      </p:sp>
      <p:pic>
        <p:nvPicPr>
          <p:cNvPr id="6" name="Imagen 5">
            <a:extLst>
              <a:ext uri="{FF2B5EF4-FFF2-40B4-BE49-F238E27FC236}">
                <a16:creationId xmlns:a16="http://schemas.microsoft.com/office/drawing/2014/main" id="{CDC5F839-ABCB-6A8B-E87C-F4D6BB2AA600}"/>
              </a:ext>
            </a:extLst>
          </p:cNvPr>
          <p:cNvPicPr>
            <a:picLocks noChangeAspect="1"/>
          </p:cNvPicPr>
          <p:nvPr/>
        </p:nvPicPr>
        <p:blipFill>
          <a:blip r:embed="rId4"/>
          <a:stretch>
            <a:fillRect/>
          </a:stretch>
        </p:blipFill>
        <p:spPr>
          <a:xfrm>
            <a:off x="4714240" y="895524"/>
            <a:ext cx="6906589" cy="3153215"/>
          </a:xfrm>
          <a:prstGeom prst="rect">
            <a:avLst/>
          </a:prstGeom>
        </p:spPr>
      </p:pic>
      <p:pic>
        <p:nvPicPr>
          <p:cNvPr id="10" name="Imagen 9">
            <a:extLst>
              <a:ext uri="{FF2B5EF4-FFF2-40B4-BE49-F238E27FC236}">
                <a16:creationId xmlns:a16="http://schemas.microsoft.com/office/drawing/2014/main" id="{A7D1930E-5D25-2A0F-94CF-B02DFAF01D4C}"/>
              </a:ext>
            </a:extLst>
          </p:cNvPr>
          <p:cNvPicPr>
            <a:picLocks noChangeAspect="1"/>
          </p:cNvPicPr>
          <p:nvPr/>
        </p:nvPicPr>
        <p:blipFill>
          <a:blip r:embed="rId5"/>
          <a:stretch>
            <a:fillRect/>
          </a:stretch>
        </p:blipFill>
        <p:spPr>
          <a:xfrm>
            <a:off x="5014378" y="4048739"/>
            <a:ext cx="5726927" cy="2713163"/>
          </a:xfrm>
          <a:prstGeom prst="rect">
            <a:avLst/>
          </a:prstGeom>
        </p:spPr>
      </p:pic>
    </p:spTree>
    <p:extLst>
      <p:ext uri="{BB962C8B-B14F-4D97-AF65-F5344CB8AC3E}">
        <p14:creationId xmlns:p14="http://schemas.microsoft.com/office/powerpoint/2010/main" val="2359864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11C27FB-10EC-4C17-8DCD-A115612519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14</a:t>
            </a:fld>
            <a:endParaRPr lang="en-US"/>
          </a:p>
        </p:txBody>
      </p:sp>
      <p:sp>
        <p:nvSpPr>
          <p:cNvPr id="4" name="Título 3">
            <a:extLst>
              <a:ext uri="{FF2B5EF4-FFF2-40B4-BE49-F238E27FC236}">
                <a16:creationId xmlns:a16="http://schemas.microsoft.com/office/drawing/2014/main" id="{4F93AAB5-F83C-4220-89EE-4A86006C3202}"/>
              </a:ext>
            </a:extLst>
          </p:cNvPr>
          <p:cNvSpPr>
            <a:spLocks noGrp="1"/>
          </p:cNvSpPr>
          <p:nvPr>
            <p:ph type="title"/>
          </p:nvPr>
        </p:nvSpPr>
        <p:spPr>
          <a:xfrm>
            <a:off x="1686449" y="543324"/>
            <a:ext cx="3223008" cy="580800"/>
          </a:xfrm>
        </p:spPr>
        <p:txBody>
          <a:bodyPr/>
          <a:lstStyle/>
          <a:p>
            <a:r>
              <a:rPr lang="en-US" sz="3500" dirty="0"/>
              <a:t>Conclusions</a:t>
            </a:r>
            <a:endParaRPr lang="es-ES" sz="3500" dirty="0"/>
          </a:p>
        </p:txBody>
      </p:sp>
      <p:pic>
        <p:nvPicPr>
          <p:cNvPr id="8" name="Gráfico 7" descr="Libro abierto contorno">
            <a:extLst>
              <a:ext uri="{FF2B5EF4-FFF2-40B4-BE49-F238E27FC236}">
                <a16:creationId xmlns:a16="http://schemas.microsoft.com/office/drawing/2014/main" id="{0DB60C98-D6DE-4F3A-8C23-9748D7258C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1766" y="666924"/>
            <a:ext cx="457200" cy="457200"/>
          </a:xfrm>
          <a:prstGeom prst="rect">
            <a:avLst/>
          </a:prstGeom>
        </p:spPr>
      </p:pic>
      <p:sp>
        <p:nvSpPr>
          <p:cNvPr id="6" name="CuadroTexto 5">
            <a:extLst>
              <a:ext uri="{FF2B5EF4-FFF2-40B4-BE49-F238E27FC236}">
                <a16:creationId xmlns:a16="http://schemas.microsoft.com/office/drawing/2014/main" id="{71A20C70-4817-B168-C628-DAC585F51294}"/>
              </a:ext>
            </a:extLst>
          </p:cNvPr>
          <p:cNvSpPr txBox="1"/>
          <p:nvPr/>
        </p:nvSpPr>
        <p:spPr>
          <a:xfrm>
            <a:off x="861100" y="1304086"/>
            <a:ext cx="10895669" cy="5940088"/>
          </a:xfrm>
          <a:prstGeom prst="rect">
            <a:avLst/>
          </a:prstGeom>
          <a:noFill/>
        </p:spPr>
        <p:txBody>
          <a:bodyPr wrap="square" rtlCol="0">
            <a:spAutoFit/>
          </a:bodyPr>
          <a:lstStyle/>
          <a:p>
            <a:r>
              <a:rPr lang="en-US" sz="2000" dirty="0"/>
              <a:t>Los </a:t>
            </a:r>
            <a:r>
              <a:rPr lang="en-US" sz="2000" dirty="0" err="1"/>
              <a:t>investigadores</a:t>
            </a:r>
            <a:r>
              <a:rPr lang="en-US" sz="2000" dirty="0"/>
              <a:t>, a traves de la </a:t>
            </a:r>
            <a:r>
              <a:rPr lang="es-MX" sz="2000" dirty="0"/>
              <a:t>metabolómica no dirigida en una cohorte de cuantificación independiente, identificaron los metabolitos como biomarcadores fenotípicos y diagnósticos de la alergia alimentaria a la leche. Asimismo, los resultados permiten comprender mecanismos patológicos subyacentes a la alergia infantil y sugieren posibles dianas terapéuticas</a:t>
            </a:r>
          </a:p>
          <a:p>
            <a:endParaRPr lang="es-MX" sz="2000" dirty="0"/>
          </a:p>
          <a:p>
            <a:r>
              <a:rPr lang="es-MX" sz="2000" dirty="0"/>
              <a:t>La interacción alterada arginina-prolina-glutamato fue indicativa de la transición de la tolerancia sensibilizada a la IgE a la alergia clínica, y la alteración del metabolismo del triptófano se relacionó con la polisensibilización en la alergia a la comida. </a:t>
            </a:r>
            <a:endParaRPr lang="en-US" sz="2000" dirty="0"/>
          </a:p>
          <a:p>
            <a:endParaRPr lang="en-US" sz="2000" dirty="0"/>
          </a:p>
          <a:p>
            <a:r>
              <a:rPr lang="es-MX" sz="2000" b="1" dirty="0"/>
              <a:t>No obstante</a:t>
            </a:r>
            <a:r>
              <a:rPr lang="es-MX" sz="2000" dirty="0"/>
              <a:t>, ellos sugieren que la posible aplicación de estos metabolitos como marcadores diagnósticos debería combinarse, al menos, con indicadores de diagnóstico clínico establecidos, como las pruebas serológicas y la investigación clínica, para mejorar la especificidad y la precisión del diagnóstico de las alergias por comida</a:t>
            </a:r>
          </a:p>
          <a:p>
            <a:endParaRPr lang="es-MX" sz="2000" dirty="0"/>
          </a:p>
          <a:p>
            <a:r>
              <a:rPr lang="es-MX" sz="2000" dirty="0"/>
              <a:t>Otra limitación es que, a pesar del uso de una serie de pruebas de IgE positivas y un seguimiento detallado, la ausencia de provocaciones alimentarias orales puede llevar a una </a:t>
            </a:r>
            <a:r>
              <a:rPr lang="es-MX" sz="2000" dirty="0" err="1"/>
              <a:t>sobrepresentación</a:t>
            </a:r>
            <a:r>
              <a:rPr lang="es-MX" sz="2000" dirty="0"/>
              <a:t> de pacientes con AM</a:t>
            </a:r>
            <a:endParaRPr lang="es-CO" sz="2000" dirty="0"/>
          </a:p>
          <a:p>
            <a:endParaRPr lang="en-US" sz="2000" dirty="0"/>
          </a:p>
          <a:p>
            <a:endParaRPr lang="es-CO" sz="2000" dirty="0"/>
          </a:p>
        </p:txBody>
      </p:sp>
    </p:spTree>
    <p:extLst>
      <p:ext uri="{BB962C8B-B14F-4D97-AF65-F5344CB8AC3E}">
        <p14:creationId xmlns:p14="http://schemas.microsoft.com/office/powerpoint/2010/main" val="1220811058"/>
      </p:ext>
    </p:extLst>
  </p:cSld>
  <p:clrMapOvr>
    <a:masterClrMapping/>
  </p:clrMapOvr>
</p:sld>
</file>

<file path=ppt/theme/theme1.xml><?xml version="1.0" encoding="utf-8"?>
<a:theme xmlns:a="http://schemas.openxmlformats.org/drawingml/2006/main" name="Tema1">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960DC5D670C0E846BB5938C8E88711CB" ma:contentTypeVersion="12" ma:contentTypeDescription="Crear nuevo documento." ma:contentTypeScope="" ma:versionID="6dbf866d463d62f9dcbbbf59ab29a03b">
  <xsd:schema xmlns:xsd="http://www.w3.org/2001/XMLSchema" xmlns:xs="http://www.w3.org/2001/XMLSchema" xmlns:p="http://schemas.microsoft.com/office/2006/metadata/properties" xmlns:ns2="fc71768a-d5d0-40d8-a157-c58a04775000" xmlns:ns3="249d0c52-c56c-4fdf-bca2-2bae6eaf34ee" targetNamespace="http://schemas.microsoft.com/office/2006/metadata/properties" ma:root="true" ma:fieldsID="2959bde9f058572870ca142cee39ee4e" ns2:_="" ns3:_="">
    <xsd:import namespace="fc71768a-d5d0-40d8-a157-c58a04775000"/>
    <xsd:import namespace="249d0c52-c56c-4fdf-bca2-2bae6eaf34e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71768a-d5d0-40d8-a157-c58a047750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9d0c52-c56c-4fdf-bca2-2bae6eaf34ee"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086130-1D3D-4C6D-92B5-95E773B2E258}">
  <ds:schemaRefs>
    <ds:schemaRef ds:uri="http://schemas.openxmlformats.org/package/2006/metadata/core-properties"/>
    <ds:schemaRef ds:uri="http://schemas.microsoft.com/office/2006/documentManagement/types"/>
    <ds:schemaRef ds:uri="http://purl.org/dc/elements/1.1/"/>
    <ds:schemaRef ds:uri="http://purl.org/dc/dcmitype/"/>
    <ds:schemaRef ds:uri="http://www.w3.org/XML/1998/namespace"/>
    <ds:schemaRef ds:uri="http://purl.org/dc/terms/"/>
    <ds:schemaRef ds:uri="fc71768a-d5d0-40d8-a157-c58a04775000"/>
    <ds:schemaRef ds:uri="http://schemas.microsoft.com/office/infopath/2007/PartnerControls"/>
    <ds:schemaRef ds:uri="249d0c52-c56c-4fdf-bca2-2bae6eaf34ee"/>
    <ds:schemaRef ds:uri="http://schemas.microsoft.com/office/2006/metadata/properties"/>
  </ds:schemaRefs>
</ds:datastoreItem>
</file>

<file path=customXml/itemProps2.xml><?xml version="1.0" encoding="utf-8"?>
<ds:datastoreItem xmlns:ds="http://schemas.openxmlformats.org/officeDocument/2006/customXml" ds:itemID="{D6E5DB0C-B956-4E05-97C0-22D395965BBD}">
  <ds:schemaRefs>
    <ds:schemaRef ds:uri="http://schemas.microsoft.com/sharepoint/v3/contenttype/forms"/>
  </ds:schemaRefs>
</ds:datastoreItem>
</file>

<file path=customXml/itemProps3.xml><?xml version="1.0" encoding="utf-8"?>
<ds:datastoreItem xmlns:ds="http://schemas.openxmlformats.org/officeDocument/2006/customXml" ds:itemID="{6980283E-DD98-4825-A966-ADACBF945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71768a-d5d0-40d8-a157-c58a04775000"/>
    <ds:schemaRef ds:uri="249d0c52-c56c-4fdf-bca2-2bae6eaf34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High-resolution low-cost LCD 3D printing for microfluidics and organ-on-a-chip devices</Template>
  <TotalTime>514</TotalTime>
  <Words>963</Words>
  <Application>Microsoft Office PowerPoint</Application>
  <PresentationFormat>Panorámica</PresentationFormat>
  <Paragraphs>64</Paragraphs>
  <Slides>14</Slides>
  <Notes>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14</vt:i4>
      </vt:variant>
    </vt:vector>
  </HeadingPairs>
  <TitlesOfParts>
    <vt:vector size="21" baseType="lpstr">
      <vt:lpstr>Lora</vt:lpstr>
      <vt:lpstr>Arial</vt:lpstr>
      <vt:lpstr>ElsevierSans</vt:lpstr>
      <vt:lpstr>Source Sans Pro</vt:lpstr>
      <vt:lpstr>Calibri</vt:lpstr>
      <vt:lpstr>Quattrocento Sans</vt:lpstr>
      <vt:lpstr>Tema1</vt:lpstr>
      <vt:lpstr>Metabolomics identifies phenotypic biomarkers of amino acid metabolism in milk allergy and sensitized tolerance</vt:lpstr>
      <vt:lpstr>Qiaozhi Zhang</vt:lpstr>
      <vt:lpstr>Projects</vt:lpstr>
      <vt:lpstr>Introduction</vt:lpstr>
      <vt:lpstr>Introduction</vt:lpstr>
      <vt:lpstr>Methods</vt:lpstr>
      <vt:lpstr>Validation and Statistical analysis</vt:lpstr>
      <vt:lpstr>Validation and Statistical analysis</vt:lpstr>
      <vt:lpstr>Results</vt:lpstr>
      <vt:lpstr>Results</vt:lpstr>
      <vt:lpstr>Results</vt:lpstr>
      <vt:lpstr>Results</vt:lpstr>
      <vt:lpstr>Results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anderson acosta ramirez</dc:creator>
  <cp:lastModifiedBy>john anderson acosta ramirez</cp:lastModifiedBy>
  <cp:revision>2</cp:revision>
  <dcterms:created xsi:type="dcterms:W3CDTF">2025-05-05T12:26:21Z</dcterms:created>
  <dcterms:modified xsi:type="dcterms:W3CDTF">2025-05-06T16:42:45Z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0x010100960DC5D670C0E846BB5938C8E88711CB</vt:lpwstr>
  </property>
</Properties>
</file>